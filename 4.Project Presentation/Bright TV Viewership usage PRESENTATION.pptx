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Heading Now 71-78" panose="020B0604020202020204" charset="0"/>
      <p:regular r:id="rId13"/>
    </p:embeddedFont>
    <p:embeddedFont>
      <p:font typeface="TT Firs Neue" panose="020B0604020202020204" charset="0"/>
      <p:regular r:id="rId14"/>
    </p:embeddedFont>
    <p:embeddedFont>
      <p:font typeface="Calibri" panose="020F0502020204030204" pitchFamily="34" charset="0"/>
      <p:regular r:id="rId15"/>
      <p:bold r:id="rId16"/>
      <p:italic r:id="rId17"/>
      <p:boldItalic r:id="rId18"/>
    </p:embeddedFont>
    <p:embeddedFont>
      <p:font typeface="Atkinson Hyperlegible Bold" panose="020B0604020202020204" charset="0"/>
      <p:regular r:id="rId19"/>
    </p:embeddedFont>
    <p:embeddedFont>
      <p:font typeface="TT Firs Neue Bold" panose="020B0604020202020204" charset="0"/>
      <p:regular r:id="rId20"/>
    </p:embeddedFont>
    <p:embeddedFont>
      <p:font typeface="Atkinson Hyperlegible" panose="020B0604020202020204" charset="0"/>
      <p:regular r:id="rId21"/>
    </p:embeddedFont>
    <p:embeddedFont>
      <p:font typeface="TT Firs Neue Italics"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5" d="100"/>
          <a:sy n="55" d="100"/>
        </p:scale>
        <p:origin x="701" y="46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6.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0.png"/><Relationship Id="rId7"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6.svg"/><Relationship Id="rId5" Type="http://schemas.openxmlformats.org/officeDocument/2006/relationships/image" Target="../media/image4.png"/><Relationship Id="rId4" Type="http://schemas.openxmlformats.org/officeDocument/2006/relationships/image" Target="../media/image13.sv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6.sv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8.jpeg"/><Relationship Id="rId5" Type="http://schemas.openxmlformats.org/officeDocument/2006/relationships/image" Target="../media/image6.sv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sp>
        <p:nvSpPr>
          <p:cNvPr id="2" name="Freeform 2"/>
          <p:cNvSpPr/>
          <p:nvPr/>
        </p:nvSpPr>
        <p:spPr>
          <a:xfrm>
            <a:off x="13047543" y="5815441"/>
            <a:ext cx="5266289" cy="4471559"/>
          </a:xfrm>
          <a:custGeom>
            <a:avLst/>
            <a:gdLst/>
            <a:ahLst/>
            <a:cxnLst/>
            <a:rect l="l" t="t" r="r" b="b"/>
            <a:pathLst>
              <a:path w="5266289" h="4471559">
                <a:moveTo>
                  <a:pt x="0" y="0"/>
                </a:moveTo>
                <a:lnTo>
                  <a:pt x="5266290" y="0"/>
                </a:lnTo>
                <a:lnTo>
                  <a:pt x="5266290" y="4471559"/>
                </a:lnTo>
                <a:lnTo>
                  <a:pt x="0" y="4471559"/>
                </a:lnTo>
                <a:lnTo>
                  <a:pt x="0" y="0"/>
                </a:lnTo>
                <a:close/>
              </a:path>
            </a:pathLst>
          </a:custGeom>
          <a:blipFill>
            <a:blip r:embed="rId2">
              <a:alphaModFix amt="13000"/>
              <a:extLst>
                <a:ext uri="{96DAC541-7B7A-43D3-8B79-37D633B846F1}">
                  <asvg:svgBlip xmlns:asvg="http://schemas.microsoft.com/office/drawing/2016/SVG/main" xmlns="" r:embed="rId3"/>
                </a:ext>
              </a:extLst>
            </a:blip>
            <a:stretch>
              <a:fillRect/>
            </a:stretch>
          </a:blipFill>
        </p:spPr>
      </p:sp>
      <p:grpSp>
        <p:nvGrpSpPr>
          <p:cNvPr id="3" name="Group 3"/>
          <p:cNvGrpSpPr/>
          <p:nvPr/>
        </p:nvGrpSpPr>
        <p:grpSpPr>
          <a:xfrm>
            <a:off x="10136072" y="2046139"/>
            <a:ext cx="6036205" cy="603620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69822" t="-12795" r="-6300" b="-4620"/>
              </a:stretch>
            </a:blipFill>
          </p:spPr>
        </p:sp>
      </p:grpSp>
      <p:grpSp>
        <p:nvGrpSpPr>
          <p:cNvPr id="5" name="Group 5"/>
          <p:cNvGrpSpPr/>
          <p:nvPr/>
        </p:nvGrpSpPr>
        <p:grpSpPr>
          <a:xfrm>
            <a:off x="9624385" y="5216241"/>
            <a:ext cx="3243248" cy="3243248"/>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4931" r="-24931"/>
              </a:stretch>
            </a:blipFill>
            <a:ln w="85725" cap="sq">
              <a:solidFill>
                <a:srgbClr val="FFF8F4"/>
              </a:solidFill>
              <a:prstDash val="solid"/>
              <a:miter/>
            </a:ln>
          </p:spPr>
        </p:sp>
      </p:grpSp>
      <p:sp>
        <p:nvSpPr>
          <p:cNvPr id="7" name="TextBox 7"/>
          <p:cNvSpPr txBox="1"/>
          <p:nvPr/>
        </p:nvSpPr>
        <p:spPr>
          <a:xfrm>
            <a:off x="2115724" y="3043271"/>
            <a:ext cx="6764504" cy="1453516"/>
          </a:xfrm>
          <a:prstGeom prst="rect">
            <a:avLst/>
          </a:prstGeom>
        </p:spPr>
        <p:txBody>
          <a:bodyPr lIns="0" tIns="0" rIns="0" bIns="0" rtlCol="0" anchor="t">
            <a:spAutoFit/>
          </a:bodyPr>
          <a:lstStyle/>
          <a:p>
            <a:pPr algn="l">
              <a:lnSpc>
                <a:spcPts val="5100"/>
              </a:lnSpc>
            </a:pPr>
            <a:r>
              <a:rPr lang="en-US" sz="5100" spc="-280">
                <a:solidFill>
                  <a:srgbClr val="2E2623"/>
                </a:solidFill>
                <a:latin typeface="Heading Now 71-78"/>
                <a:ea typeface="Heading Now 71-78"/>
                <a:cs typeface="Heading Now 71-78"/>
                <a:sym typeface="Heading Now 71-78"/>
              </a:rPr>
              <a:t> Viewer Usage Presentation</a:t>
            </a:r>
          </a:p>
        </p:txBody>
      </p:sp>
      <p:grpSp>
        <p:nvGrpSpPr>
          <p:cNvPr id="8" name="Group 8"/>
          <p:cNvGrpSpPr/>
          <p:nvPr/>
        </p:nvGrpSpPr>
        <p:grpSpPr>
          <a:xfrm>
            <a:off x="-1926489" y="6987704"/>
            <a:ext cx="10806717" cy="3299296"/>
            <a:chOff x="0" y="0"/>
            <a:chExt cx="2846213" cy="868950"/>
          </a:xfrm>
        </p:grpSpPr>
        <p:sp>
          <p:nvSpPr>
            <p:cNvPr id="9" name="Freeform 9"/>
            <p:cNvSpPr/>
            <p:nvPr/>
          </p:nvSpPr>
          <p:spPr>
            <a:xfrm>
              <a:off x="0" y="0"/>
              <a:ext cx="2846213" cy="868950"/>
            </a:xfrm>
            <a:custGeom>
              <a:avLst/>
              <a:gdLst/>
              <a:ahLst/>
              <a:cxnLst/>
              <a:rect l="l" t="t" r="r" b="b"/>
              <a:pathLst>
                <a:path w="2846213" h="868950">
                  <a:moveTo>
                    <a:pt x="358199" y="0"/>
                  </a:moveTo>
                  <a:lnTo>
                    <a:pt x="2488014" y="0"/>
                  </a:lnTo>
                  <a:cubicBezTo>
                    <a:pt x="2685842" y="0"/>
                    <a:pt x="2846213" y="160371"/>
                    <a:pt x="2846213" y="358199"/>
                  </a:cubicBezTo>
                  <a:lnTo>
                    <a:pt x="2846213" y="510751"/>
                  </a:lnTo>
                  <a:cubicBezTo>
                    <a:pt x="2846213" y="708579"/>
                    <a:pt x="2685842" y="868950"/>
                    <a:pt x="2488014" y="868950"/>
                  </a:cubicBezTo>
                  <a:lnTo>
                    <a:pt x="358199" y="868950"/>
                  </a:lnTo>
                  <a:cubicBezTo>
                    <a:pt x="160371" y="868950"/>
                    <a:pt x="0" y="708579"/>
                    <a:pt x="0" y="510751"/>
                  </a:cubicBezTo>
                  <a:lnTo>
                    <a:pt x="0" y="358199"/>
                  </a:lnTo>
                  <a:cubicBezTo>
                    <a:pt x="0" y="160371"/>
                    <a:pt x="160371" y="0"/>
                    <a:pt x="358199" y="0"/>
                  </a:cubicBezTo>
                  <a:close/>
                </a:path>
              </a:pathLst>
            </a:custGeom>
            <a:ln w="19050" cap="rnd">
              <a:solidFill>
                <a:srgbClr val="4A2C21"/>
              </a:solidFill>
              <a:prstDash val="solid"/>
              <a:round/>
            </a:ln>
          </p:spPr>
        </p:sp>
        <p:sp>
          <p:nvSpPr>
            <p:cNvPr id="10" name="TextBox 10"/>
            <p:cNvSpPr txBox="1"/>
            <p:nvPr/>
          </p:nvSpPr>
          <p:spPr>
            <a:xfrm>
              <a:off x="0" y="-47625"/>
              <a:ext cx="2846213" cy="916575"/>
            </a:xfrm>
            <a:prstGeom prst="rect">
              <a:avLst/>
            </a:prstGeom>
          </p:spPr>
          <p:txBody>
            <a:bodyPr lIns="50800" tIns="50800" rIns="50800" bIns="50800" rtlCol="0" anchor="ctr"/>
            <a:lstStyle/>
            <a:p>
              <a:pPr marL="0" lvl="0" indent="0" algn="ctr">
                <a:lnSpc>
                  <a:spcPts val="2800"/>
                </a:lnSpc>
                <a:spcBef>
                  <a:spcPct val="0"/>
                </a:spcBef>
              </a:pPr>
              <a:endParaRPr/>
            </a:p>
          </p:txBody>
        </p:sp>
      </p:grpSp>
      <p:sp>
        <p:nvSpPr>
          <p:cNvPr id="11" name="AutoShape 11"/>
          <p:cNvSpPr/>
          <p:nvPr/>
        </p:nvSpPr>
        <p:spPr>
          <a:xfrm>
            <a:off x="7117308" y="6997229"/>
            <a:ext cx="1762919" cy="0"/>
          </a:xfrm>
          <a:prstGeom prst="line">
            <a:avLst/>
          </a:prstGeom>
          <a:ln w="19050" cap="flat">
            <a:solidFill>
              <a:srgbClr val="4A2C21"/>
            </a:solidFill>
            <a:prstDash val="solid"/>
            <a:headEnd type="none" w="sm" len="sm"/>
            <a:tailEnd type="none" w="sm" len="sm"/>
          </a:ln>
        </p:spPr>
      </p:sp>
      <p:sp>
        <p:nvSpPr>
          <p:cNvPr id="12" name="AutoShape 12"/>
          <p:cNvSpPr/>
          <p:nvPr/>
        </p:nvSpPr>
        <p:spPr>
          <a:xfrm flipV="1">
            <a:off x="1028700" y="689332"/>
            <a:ext cx="489623" cy="0"/>
          </a:xfrm>
          <a:prstGeom prst="line">
            <a:avLst/>
          </a:prstGeom>
          <a:ln w="28575" cap="flat">
            <a:solidFill>
              <a:srgbClr val="4A2C21"/>
            </a:solidFill>
            <a:prstDash val="solid"/>
            <a:headEnd type="none" w="sm" len="sm"/>
            <a:tailEnd type="none" w="sm" len="sm"/>
          </a:ln>
        </p:spPr>
      </p:sp>
      <p:sp>
        <p:nvSpPr>
          <p:cNvPr id="13" name="AutoShape 13"/>
          <p:cNvSpPr/>
          <p:nvPr/>
        </p:nvSpPr>
        <p:spPr>
          <a:xfrm flipV="1">
            <a:off x="1028700" y="790603"/>
            <a:ext cx="489623" cy="0"/>
          </a:xfrm>
          <a:prstGeom prst="line">
            <a:avLst/>
          </a:prstGeom>
          <a:ln w="28575" cap="flat">
            <a:solidFill>
              <a:srgbClr val="4A2C21"/>
            </a:solidFill>
            <a:prstDash val="solid"/>
            <a:headEnd type="none" w="sm" len="sm"/>
            <a:tailEnd type="none" w="sm" len="sm"/>
          </a:ln>
        </p:spPr>
      </p:sp>
      <p:sp>
        <p:nvSpPr>
          <p:cNvPr id="14" name="AutoShape 14"/>
          <p:cNvSpPr/>
          <p:nvPr/>
        </p:nvSpPr>
        <p:spPr>
          <a:xfrm>
            <a:off x="1028700" y="895378"/>
            <a:ext cx="353706" cy="0"/>
          </a:xfrm>
          <a:prstGeom prst="line">
            <a:avLst/>
          </a:prstGeom>
          <a:ln w="28575" cap="flat">
            <a:solidFill>
              <a:srgbClr val="4A2C21"/>
            </a:solidFill>
            <a:prstDash val="solid"/>
            <a:headEnd type="none" w="sm" len="sm"/>
            <a:tailEnd type="none" w="sm" len="sm"/>
          </a:ln>
        </p:spPr>
      </p:sp>
      <p:sp>
        <p:nvSpPr>
          <p:cNvPr id="15" name="AutoShape 15"/>
          <p:cNvSpPr/>
          <p:nvPr/>
        </p:nvSpPr>
        <p:spPr>
          <a:xfrm>
            <a:off x="8880227" y="1028700"/>
            <a:ext cx="0" cy="8733898"/>
          </a:xfrm>
          <a:prstGeom prst="line">
            <a:avLst/>
          </a:prstGeom>
          <a:ln w="19050" cap="flat">
            <a:solidFill>
              <a:srgbClr val="4A2C21"/>
            </a:solidFill>
            <a:prstDash val="solid"/>
            <a:headEnd type="none" w="sm" len="sm"/>
            <a:tailEnd type="none" w="sm" len="sm"/>
          </a:ln>
        </p:spPr>
      </p:sp>
      <p:sp>
        <p:nvSpPr>
          <p:cNvPr id="16" name="AutoShape 16"/>
          <p:cNvSpPr/>
          <p:nvPr/>
        </p:nvSpPr>
        <p:spPr>
          <a:xfrm flipH="1">
            <a:off x="17578622" y="9251148"/>
            <a:ext cx="0" cy="1252579"/>
          </a:xfrm>
          <a:prstGeom prst="line">
            <a:avLst/>
          </a:prstGeom>
          <a:ln w="19050" cap="flat">
            <a:solidFill>
              <a:srgbClr val="4A2C21"/>
            </a:solidFill>
            <a:prstDash val="solid"/>
            <a:headEnd type="none" w="sm" len="sm"/>
            <a:tailEnd type="none" w="sm" len="sm"/>
          </a:ln>
        </p:spPr>
      </p:sp>
      <p:grpSp>
        <p:nvGrpSpPr>
          <p:cNvPr id="17" name="Group 17"/>
          <p:cNvGrpSpPr/>
          <p:nvPr/>
        </p:nvGrpSpPr>
        <p:grpSpPr>
          <a:xfrm>
            <a:off x="12856670" y="-1231301"/>
            <a:ext cx="5431330" cy="5431330"/>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4A2C21"/>
              </a:solidFill>
              <a:prstDash val="solid"/>
              <a:miter/>
            </a:ln>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grpSp>
        <p:nvGrpSpPr>
          <p:cNvPr id="20" name="Group 20"/>
          <p:cNvGrpSpPr/>
          <p:nvPr/>
        </p:nvGrpSpPr>
        <p:grpSpPr>
          <a:xfrm>
            <a:off x="-555831" y="5950964"/>
            <a:ext cx="2073479" cy="2073479"/>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4A2C21"/>
              </a:solidFill>
              <a:prstDash val="solid"/>
              <a:miter/>
            </a:ln>
          </p:spPr>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23" name="Freeform 23"/>
          <p:cNvSpPr/>
          <p:nvPr/>
        </p:nvSpPr>
        <p:spPr>
          <a:xfrm>
            <a:off x="7544604" y="2162368"/>
            <a:ext cx="742733" cy="854609"/>
          </a:xfrm>
          <a:custGeom>
            <a:avLst/>
            <a:gdLst/>
            <a:ahLst/>
            <a:cxnLst/>
            <a:rect l="l" t="t" r="r" b="b"/>
            <a:pathLst>
              <a:path w="742733" h="854609">
                <a:moveTo>
                  <a:pt x="0" y="0"/>
                </a:moveTo>
                <a:lnTo>
                  <a:pt x="742733" y="0"/>
                </a:lnTo>
                <a:lnTo>
                  <a:pt x="742733" y="854608"/>
                </a:lnTo>
                <a:lnTo>
                  <a:pt x="0" y="854608"/>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a:ln cap="sq">
            <a:noFill/>
            <a:prstDash val="solid"/>
            <a:miter/>
          </a:ln>
        </p:spPr>
      </p:sp>
      <p:sp>
        <p:nvSpPr>
          <p:cNvPr id="24" name="TextBox 24"/>
          <p:cNvSpPr txBox="1"/>
          <p:nvPr/>
        </p:nvSpPr>
        <p:spPr>
          <a:xfrm>
            <a:off x="2115724" y="7734771"/>
            <a:ext cx="4102496" cy="349250"/>
          </a:xfrm>
          <a:prstGeom prst="rect">
            <a:avLst/>
          </a:prstGeom>
        </p:spPr>
        <p:txBody>
          <a:bodyPr lIns="0" tIns="0" rIns="0" bIns="0" rtlCol="0" anchor="t">
            <a:spAutoFit/>
          </a:bodyPr>
          <a:lstStyle/>
          <a:p>
            <a:pPr algn="l">
              <a:lnSpc>
                <a:spcPts val="2800"/>
              </a:lnSpc>
            </a:pPr>
            <a:r>
              <a:rPr lang="en-US" sz="2000">
                <a:solidFill>
                  <a:srgbClr val="2E2623"/>
                </a:solidFill>
                <a:latin typeface="TT Firs Neue"/>
                <a:ea typeface="TT Firs Neue"/>
                <a:cs typeface="TT Firs Neue"/>
                <a:sym typeface="TT Firs Neue"/>
              </a:rPr>
              <a:t>www.BrightTV.com</a:t>
            </a:r>
          </a:p>
        </p:txBody>
      </p:sp>
      <p:sp>
        <p:nvSpPr>
          <p:cNvPr id="25" name="TextBox 25"/>
          <p:cNvSpPr txBox="1"/>
          <p:nvPr/>
        </p:nvSpPr>
        <p:spPr>
          <a:xfrm rot="5400000">
            <a:off x="15298728" y="6551374"/>
            <a:ext cx="4558876" cy="297180"/>
          </a:xfrm>
          <a:prstGeom prst="rect">
            <a:avLst/>
          </a:prstGeom>
        </p:spPr>
        <p:txBody>
          <a:bodyPr lIns="0" tIns="0" rIns="0" bIns="0" rtlCol="0" anchor="t">
            <a:spAutoFit/>
          </a:bodyPr>
          <a:lstStyle/>
          <a:p>
            <a:pPr algn="r">
              <a:lnSpc>
                <a:spcPts val="2520"/>
              </a:lnSpc>
            </a:pPr>
            <a:r>
              <a:rPr lang="en-US" sz="1800" i="1" spc="392">
                <a:solidFill>
                  <a:srgbClr val="2E2623"/>
                </a:solidFill>
                <a:latin typeface="TT Firs Neue Italics"/>
                <a:ea typeface="TT Firs Neue Italics"/>
                <a:cs typeface="TT Firs Neue Italics"/>
                <a:sym typeface="TT Firs Neue Italics"/>
              </a:rPr>
              <a:t>www.BrightTV.com</a:t>
            </a:r>
          </a:p>
        </p:txBody>
      </p:sp>
      <p:sp>
        <p:nvSpPr>
          <p:cNvPr id="26" name="TextBox 26"/>
          <p:cNvSpPr txBox="1"/>
          <p:nvPr/>
        </p:nvSpPr>
        <p:spPr>
          <a:xfrm>
            <a:off x="2115724" y="8133532"/>
            <a:ext cx="2195335" cy="349300"/>
          </a:xfrm>
          <a:prstGeom prst="rect">
            <a:avLst/>
          </a:prstGeom>
        </p:spPr>
        <p:txBody>
          <a:bodyPr lIns="0" tIns="0" rIns="0" bIns="0" rtlCol="0" anchor="t">
            <a:spAutoFit/>
          </a:bodyPr>
          <a:lstStyle/>
          <a:p>
            <a:pPr algn="l">
              <a:lnSpc>
                <a:spcPts val="2800"/>
              </a:lnSpc>
            </a:pPr>
            <a:r>
              <a:rPr lang="en-US" sz="2000">
                <a:solidFill>
                  <a:srgbClr val="2E2623"/>
                </a:solidFill>
                <a:latin typeface="TT Firs Neue"/>
                <a:ea typeface="TT Firs Neue"/>
                <a:cs typeface="TT Firs Neue"/>
                <a:sym typeface="TT Firs Neue"/>
              </a:rPr>
              <a:t>Presented By:</a:t>
            </a:r>
          </a:p>
        </p:txBody>
      </p:sp>
      <p:sp>
        <p:nvSpPr>
          <p:cNvPr id="27" name="TextBox 27"/>
          <p:cNvSpPr txBox="1"/>
          <p:nvPr/>
        </p:nvSpPr>
        <p:spPr>
          <a:xfrm>
            <a:off x="3983500" y="8133532"/>
            <a:ext cx="2853782" cy="349250"/>
          </a:xfrm>
          <a:prstGeom prst="rect">
            <a:avLst/>
          </a:prstGeom>
        </p:spPr>
        <p:txBody>
          <a:bodyPr lIns="0" tIns="0" rIns="0" bIns="0" rtlCol="0" anchor="t">
            <a:spAutoFit/>
          </a:bodyPr>
          <a:lstStyle/>
          <a:p>
            <a:pPr algn="l">
              <a:lnSpc>
                <a:spcPts val="2800"/>
              </a:lnSpc>
            </a:pPr>
            <a:r>
              <a:rPr lang="en-US" sz="2000" b="1">
                <a:solidFill>
                  <a:srgbClr val="2E2623"/>
                </a:solidFill>
                <a:latin typeface="TT Firs Neue Bold"/>
                <a:ea typeface="TT Firs Neue Bold"/>
                <a:cs typeface="TT Firs Neue Bold"/>
                <a:sym typeface="TT Firs Neue Bold"/>
              </a:rPr>
              <a:t>Nkululeko Choma</a:t>
            </a:r>
          </a:p>
        </p:txBody>
      </p:sp>
      <p:sp>
        <p:nvSpPr>
          <p:cNvPr id="28" name="TextBox 28"/>
          <p:cNvSpPr txBox="1"/>
          <p:nvPr/>
        </p:nvSpPr>
        <p:spPr>
          <a:xfrm>
            <a:off x="2115724" y="5168616"/>
            <a:ext cx="6262348" cy="405765"/>
          </a:xfrm>
          <a:prstGeom prst="rect">
            <a:avLst/>
          </a:prstGeom>
        </p:spPr>
        <p:txBody>
          <a:bodyPr lIns="0" tIns="0" rIns="0" bIns="0" rtlCol="0" anchor="t">
            <a:spAutoFit/>
          </a:bodyPr>
          <a:lstStyle/>
          <a:p>
            <a:pPr algn="l">
              <a:lnSpc>
                <a:spcPts val="3359"/>
              </a:lnSpc>
            </a:pPr>
            <a:r>
              <a:rPr lang="en-US" sz="2400">
                <a:solidFill>
                  <a:srgbClr val="2E2623"/>
                </a:solidFill>
                <a:latin typeface="TT Firs Neue"/>
                <a:ea typeface="TT Firs Neue"/>
                <a:cs typeface="TT Firs Neue"/>
                <a:sym typeface="TT Firs Neue"/>
              </a:rPr>
              <a:t>Redefining Televison Through Smart Vision</a:t>
            </a:r>
          </a:p>
        </p:txBody>
      </p:sp>
      <p:sp>
        <p:nvSpPr>
          <p:cNvPr id="29" name="TextBox 29"/>
          <p:cNvSpPr txBox="1"/>
          <p:nvPr/>
        </p:nvSpPr>
        <p:spPr>
          <a:xfrm>
            <a:off x="2115724" y="1756543"/>
            <a:ext cx="4361213" cy="405765"/>
          </a:xfrm>
          <a:prstGeom prst="rect">
            <a:avLst/>
          </a:prstGeom>
        </p:spPr>
        <p:txBody>
          <a:bodyPr lIns="0" tIns="0" rIns="0" bIns="0" rtlCol="0" anchor="t">
            <a:spAutoFit/>
          </a:bodyPr>
          <a:lstStyle/>
          <a:p>
            <a:pPr algn="l">
              <a:lnSpc>
                <a:spcPts val="3359"/>
              </a:lnSpc>
            </a:pPr>
            <a:r>
              <a:rPr lang="en-US" sz="2400" b="1">
                <a:solidFill>
                  <a:srgbClr val="2E2623"/>
                </a:solidFill>
                <a:latin typeface="TT Firs Neue Bold"/>
                <a:ea typeface="TT Firs Neue Bold"/>
                <a:cs typeface="TT Firs Neue Bold"/>
                <a:sym typeface="TT Firs Neue Bold"/>
              </a:rPr>
              <a:t>Bright TV </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sp>
        <p:nvSpPr>
          <p:cNvPr id="2" name="Freeform 2"/>
          <p:cNvSpPr/>
          <p:nvPr/>
        </p:nvSpPr>
        <p:spPr>
          <a:xfrm rot="-2700000">
            <a:off x="9382837" y="5355599"/>
            <a:ext cx="865482" cy="865482"/>
          </a:xfrm>
          <a:custGeom>
            <a:avLst/>
            <a:gdLst/>
            <a:ahLst/>
            <a:cxnLst/>
            <a:rect l="l" t="t" r="r" b="b"/>
            <a:pathLst>
              <a:path w="865482" h="865482">
                <a:moveTo>
                  <a:pt x="0" y="0"/>
                </a:moveTo>
                <a:lnTo>
                  <a:pt x="865482" y="0"/>
                </a:lnTo>
                <a:lnTo>
                  <a:pt x="865482" y="865482"/>
                </a:lnTo>
                <a:lnTo>
                  <a:pt x="0" y="86548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AutoShape 3"/>
          <p:cNvSpPr/>
          <p:nvPr/>
        </p:nvSpPr>
        <p:spPr>
          <a:xfrm flipV="1">
            <a:off x="1028700" y="689332"/>
            <a:ext cx="489623" cy="0"/>
          </a:xfrm>
          <a:prstGeom prst="line">
            <a:avLst/>
          </a:prstGeom>
          <a:ln w="28575" cap="flat">
            <a:solidFill>
              <a:srgbClr val="4A2C21"/>
            </a:solidFill>
            <a:prstDash val="solid"/>
            <a:headEnd type="none" w="sm" len="sm"/>
            <a:tailEnd type="none" w="sm" len="sm"/>
          </a:ln>
        </p:spPr>
      </p:sp>
      <p:sp>
        <p:nvSpPr>
          <p:cNvPr id="4" name="AutoShape 4"/>
          <p:cNvSpPr/>
          <p:nvPr/>
        </p:nvSpPr>
        <p:spPr>
          <a:xfrm flipV="1">
            <a:off x="1028700" y="790603"/>
            <a:ext cx="489623" cy="0"/>
          </a:xfrm>
          <a:prstGeom prst="line">
            <a:avLst/>
          </a:prstGeom>
          <a:ln w="28575" cap="flat">
            <a:solidFill>
              <a:srgbClr val="4A2C21"/>
            </a:solidFill>
            <a:prstDash val="solid"/>
            <a:headEnd type="none" w="sm" len="sm"/>
            <a:tailEnd type="none" w="sm" len="sm"/>
          </a:ln>
        </p:spPr>
      </p:sp>
      <p:sp>
        <p:nvSpPr>
          <p:cNvPr id="5" name="AutoShape 5"/>
          <p:cNvSpPr/>
          <p:nvPr/>
        </p:nvSpPr>
        <p:spPr>
          <a:xfrm>
            <a:off x="1028700" y="895378"/>
            <a:ext cx="353706" cy="0"/>
          </a:xfrm>
          <a:prstGeom prst="line">
            <a:avLst/>
          </a:prstGeom>
          <a:ln w="28575" cap="flat">
            <a:solidFill>
              <a:srgbClr val="4A2C21"/>
            </a:solidFill>
            <a:prstDash val="solid"/>
            <a:headEnd type="none" w="sm" len="sm"/>
            <a:tailEnd type="none" w="sm" len="sm"/>
          </a:ln>
        </p:spPr>
      </p:sp>
      <p:sp>
        <p:nvSpPr>
          <p:cNvPr id="6" name="AutoShape 6"/>
          <p:cNvSpPr/>
          <p:nvPr/>
        </p:nvSpPr>
        <p:spPr>
          <a:xfrm flipH="1">
            <a:off x="17578622" y="9251148"/>
            <a:ext cx="0" cy="1252579"/>
          </a:xfrm>
          <a:prstGeom prst="line">
            <a:avLst/>
          </a:prstGeom>
          <a:ln w="19050" cap="flat">
            <a:solidFill>
              <a:srgbClr val="4A2C21"/>
            </a:solidFill>
            <a:prstDash val="solid"/>
            <a:headEnd type="none" w="sm" len="sm"/>
            <a:tailEnd type="none" w="sm" len="sm"/>
          </a:ln>
        </p:spPr>
      </p:sp>
      <p:sp>
        <p:nvSpPr>
          <p:cNvPr id="7" name="AutoShape 7"/>
          <p:cNvSpPr/>
          <p:nvPr/>
        </p:nvSpPr>
        <p:spPr>
          <a:xfrm flipV="1">
            <a:off x="8898642" y="4545447"/>
            <a:ext cx="5659953" cy="0"/>
          </a:xfrm>
          <a:prstGeom prst="line">
            <a:avLst/>
          </a:prstGeom>
          <a:ln w="19050" cap="flat">
            <a:solidFill>
              <a:srgbClr val="4A2C21"/>
            </a:solidFill>
            <a:prstDash val="solid"/>
            <a:headEnd type="none" w="sm" len="sm"/>
            <a:tailEnd type="none" w="sm" len="sm"/>
          </a:ln>
        </p:spPr>
      </p:sp>
      <p:sp>
        <p:nvSpPr>
          <p:cNvPr id="8" name="AutoShape 8"/>
          <p:cNvSpPr/>
          <p:nvPr/>
        </p:nvSpPr>
        <p:spPr>
          <a:xfrm>
            <a:off x="8898642" y="1035852"/>
            <a:ext cx="0" cy="8215297"/>
          </a:xfrm>
          <a:prstGeom prst="line">
            <a:avLst/>
          </a:prstGeom>
          <a:ln w="19050" cap="flat">
            <a:solidFill>
              <a:srgbClr val="4A2C21"/>
            </a:solidFill>
            <a:prstDash val="solid"/>
            <a:headEnd type="none" w="sm" len="sm"/>
            <a:tailEnd type="none" w="sm" len="sm"/>
          </a:ln>
        </p:spPr>
      </p:sp>
      <p:sp>
        <p:nvSpPr>
          <p:cNvPr id="9" name="Freeform 9"/>
          <p:cNvSpPr/>
          <p:nvPr/>
        </p:nvSpPr>
        <p:spPr>
          <a:xfrm>
            <a:off x="801403" y="5313754"/>
            <a:ext cx="412458" cy="474586"/>
          </a:xfrm>
          <a:custGeom>
            <a:avLst/>
            <a:gdLst/>
            <a:ahLst/>
            <a:cxnLst/>
            <a:rect l="l" t="t" r="r" b="b"/>
            <a:pathLst>
              <a:path w="412458" h="474586">
                <a:moveTo>
                  <a:pt x="0" y="0"/>
                </a:moveTo>
                <a:lnTo>
                  <a:pt x="412458" y="0"/>
                </a:lnTo>
                <a:lnTo>
                  <a:pt x="412458" y="474586"/>
                </a:lnTo>
                <a:lnTo>
                  <a:pt x="0" y="47458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a:ln cap="sq">
            <a:noFill/>
            <a:prstDash val="solid"/>
            <a:miter/>
          </a:ln>
        </p:spPr>
      </p:sp>
      <p:sp>
        <p:nvSpPr>
          <p:cNvPr id="10" name="Freeform 10"/>
          <p:cNvSpPr/>
          <p:nvPr/>
        </p:nvSpPr>
        <p:spPr>
          <a:xfrm>
            <a:off x="15800910" y="1740195"/>
            <a:ext cx="742733" cy="854609"/>
          </a:xfrm>
          <a:custGeom>
            <a:avLst/>
            <a:gdLst/>
            <a:ahLst/>
            <a:cxnLst/>
            <a:rect l="l" t="t" r="r" b="b"/>
            <a:pathLst>
              <a:path w="742733" h="854609">
                <a:moveTo>
                  <a:pt x="0" y="0"/>
                </a:moveTo>
                <a:lnTo>
                  <a:pt x="742733" y="0"/>
                </a:lnTo>
                <a:lnTo>
                  <a:pt x="742733" y="854608"/>
                </a:lnTo>
                <a:lnTo>
                  <a:pt x="0" y="85460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a:ln cap="sq">
            <a:noFill/>
            <a:prstDash val="solid"/>
            <a:miter/>
          </a:ln>
        </p:spPr>
      </p:sp>
      <p:sp>
        <p:nvSpPr>
          <p:cNvPr id="11" name="Freeform 11"/>
          <p:cNvSpPr/>
          <p:nvPr/>
        </p:nvSpPr>
        <p:spPr>
          <a:xfrm>
            <a:off x="15281217" y="2965371"/>
            <a:ext cx="412458" cy="474586"/>
          </a:xfrm>
          <a:custGeom>
            <a:avLst/>
            <a:gdLst/>
            <a:ahLst/>
            <a:cxnLst/>
            <a:rect l="l" t="t" r="r" b="b"/>
            <a:pathLst>
              <a:path w="412458" h="474586">
                <a:moveTo>
                  <a:pt x="0" y="0"/>
                </a:moveTo>
                <a:lnTo>
                  <a:pt x="412458" y="0"/>
                </a:lnTo>
                <a:lnTo>
                  <a:pt x="412458" y="474586"/>
                </a:lnTo>
                <a:lnTo>
                  <a:pt x="0" y="47458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a:ln cap="sq">
            <a:noFill/>
            <a:prstDash val="solid"/>
            <a:miter/>
          </a:ln>
        </p:spPr>
      </p:sp>
      <p:sp>
        <p:nvSpPr>
          <p:cNvPr id="12" name="Freeform 12"/>
          <p:cNvSpPr/>
          <p:nvPr/>
        </p:nvSpPr>
        <p:spPr>
          <a:xfrm>
            <a:off x="8271549" y="150284"/>
            <a:ext cx="10014141" cy="6082286"/>
          </a:xfrm>
          <a:custGeom>
            <a:avLst/>
            <a:gdLst/>
            <a:ahLst/>
            <a:cxnLst/>
            <a:rect l="l" t="t" r="r" b="b"/>
            <a:pathLst>
              <a:path w="10014141" h="6082286">
                <a:moveTo>
                  <a:pt x="0" y="0"/>
                </a:moveTo>
                <a:lnTo>
                  <a:pt x="10014141" y="0"/>
                </a:lnTo>
                <a:lnTo>
                  <a:pt x="10014141" y="6082287"/>
                </a:lnTo>
                <a:lnTo>
                  <a:pt x="0" y="6082287"/>
                </a:lnTo>
                <a:lnTo>
                  <a:pt x="0" y="0"/>
                </a:lnTo>
                <a:close/>
              </a:path>
            </a:pathLst>
          </a:custGeom>
          <a:blipFill>
            <a:blip r:embed="rId6"/>
            <a:stretch>
              <a:fillRect l="-4015" r="-4015"/>
            </a:stretch>
          </a:blipFill>
        </p:spPr>
      </p:sp>
      <p:sp>
        <p:nvSpPr>
          <p:cNvPr id="13" name="TextBox 13"/>
          <p:cNvSpPr txBox="1"/>
          <p:nvPr/>
        </p:nvSpPr>
        <p:spPr>
          <a:xfrm>
            <a:off x="1213861" y="1526733"/>
            <a:ext cx="6283856" cy="1925320"/>
          </a:xfrm>
          <a:prstGeom prst="rect">
            <a:avLst/>
          </a:prstGeom>
        </p:spPr>
        <p:txBody>
          <a:bodyPr lIns="0" tIns="0" rIns="0" bIns="0" rtlCol="0" anchor="t">
            <a:spAutoFit/>
          </a:bodyPr>
          <a:lstStyle/>
          <a:p>
            <a:pPr algn="l">
              <a:lnSpc>
                <a:spcPts val="6800"/>
              </a:lnSpc>
            </a:pPr>
            <a:r>
              <a:rPr lang="en-US" sz="6800" spc="-374">
                <a:solidFill>
                  <a:srgbClr val="2E2623"/>
                </a:solidFill>
                <a:latin typeface="Heading Now 71-78"/>
                <a:ea typeface="Heading Now 71-78"/>
                <a:cs typeface="Heading Now 71-78"/>
                <a:sym typeface="Heading Now 71-78"/>
              </a:rPr>
              <a:t>Table of Content</a:t>
            </a:r>
          </a:p>
        </p:txBody>
      </p:sp>
      <p:sp>
        <p:nvSpPr>
          <p:cNvPr id="14" name="TextBox 14"/>
          <p:cNvSpPr txBox="1"/>
          <p:nvPr/>
        </p:nvSpPr>
        <p:spPr>
          <a:xfrm>
            <a:off x="9144000" y="6361482"/>
            <a:ext cx="8375032" cy="3119646"/>
          </a:xfrm>
          <a:prstGeom prst="rect">
            <a:avLst/>
          </a:prstGeom>
        </p:spPr>
        <p:txBody>
          <a:bodyPr lIns="0" tIns="0" rIns="0" bIns="0" rtlCol="0" anchor="t">
            <a:spAutoFit/>
          </a:bodyPr>
          <a:lstStyle/>
          <a:p>
            <a:pPr algn="l">
              <a:lnSpc>
                <a:spcPts val="3116"/>
              </a:lnSpc>
            </a:pPr>
            <a:r>
              <a:rPr lang="en-US" sz="2226">
                <a:solidFill>
                  <a:srgbClr val="2E2623"/>
                </a:solidFill>
                <a:latin typeface="TT Firs Neue"/>
                <a:ea typeface="TT Firs Neue"/>
                <a:cs typeface="TT Firs Neue"/>
                <a:sym typeface="TT Firs Neue"/>
              </a:rPr>
              <a:t>At BrightTV, we believe broadcasting begins with clarity. Our telecommunication systems combine advanced imaging technology and reliable performance to give viewers cutting edge programming that is objective, current and in line with broadcasting commission standards. We design our programing to educate and entertain our viewership base while also providing excellent current affairs programming with precision, innovation, and trust at the core of every frame.</a:t>
            </a:r>
          </a:p>
        </p:txBody>
      </p:sp>
      <p:sp>
        <p:nvSpPr>
          <p:cNvPr id="15" name="TextBox 15"/>
          <p:cNvSpPr txBox="1"/>
          <p:nvPr/>
        </p:nvSpPr>
        <p:spPr>
          <a:xfrm>
            <a:off x="9203590" y="3565352"/>
            <a:ext cx="4761712" cy="349250"/>
          </a:xfrm>
          <a:prstGeom prst="rect">
            <a:avLst/>
          </a:prstGeom>
        </p:spPr>
        <p:txBody>
          <a:bodyPr lIns="0" tIns="0" rIns="0" bIns="0" rtlCol="0" anchor="t">
            <a:spAutoFit/>
          </a:bodyPr>
          <a:lstStyle/>
          <a:p>
            <a:pPr algn="l">
              <a:lnSpc>
                <a:spcPts val="2800"/>
              </a:lnSpc>
            </a:pPr>
            <a:r>
              <a:rPr lang="en-US" sz="2000">
                <a:solidFill>
                  <a:srgbClr val="2E2623"/>
                </a:solidFill>
                <a:latin typeface="TT Firs Neue"/>
                <a:ea typeface="TT Firs Neue"/>
                <a:cs typeface="TT Firs Neue"/>
                <a:sym typeface="TT Firs Neue"/>
              </a:rPr>
              <a:t>Telecommunication at work</a:t>
            </a:r>
          </a:p>
        </p:txBody>
      </p:sp>
      <p:sp>
        <p:nvSpPr>
          <p:cNvPr id="16" name="TextBox 16"/>
          <p:cNvSpPr txBox="1"/>
          <p:nvPr/>
        </p:nvSpPr>
        <p:spPr>
          <a:xfrm rot="5400000">
            <a:off x="15298728" y="6551374"/>
            <a:ext cx="4558876" cy="297180"/>
          </a:xfrm>
          <a:prstGeom prst="rect">
            <a:avLst/>
          </a:prstGeom>
        </p:spPr>
        <p:txBody>
          <a:bodyPr lIns="0" tIns="0" rIns="0" bIns="0" rtlCol="0" anchor="t">
            <a:spAutoFit/>
          </a:bodyPr>
          <a:lstStyle/>
          <a:p>
            <a:pPr algn="r">
              <a:lnSpc>
                <a:spcPts val="2520"/>
              </a:lnSpc>
            </a:pPr>
            <a:r>
              <a:rPr lang="en-US" sz="1800" i="1" spc="392">
                <a:solidFill>
                  <a:srgbClr val="2E2623"/>
                </a:solidFill>
                <a:latin typeface="TT Firs Neue Italics"/>
                <a:ea typeface="TT Firs Neue Italics"/>
                <a:cs typeface="TT Firs Neue Italics"/>
                <a:sym typeface="TT Firs Neue Italics"/>
              </a:rPr>
              <a:t>hello@reallygreatsite.com</a:t>
            </a:r>
          </a:p>
        </p:txBody>
      </p:sp>
      <p:sp>
        <p:nvSpPr>
          <p:cNvPr id="17" name="TextBox 17"/>
          <p:cNvSpPr txBox="1"/>
          <p:nvPr/>
        </p:nvSpPr>
        <p:spPr>
          <a:xfrm>
            <a:off x="1389660" y="3849515"/>
            <a:ext cx="6710439" cy="2179155"/>
          </a:xfrm>
          <a:prstGeom prst="rect">
            <a:avLst/>
          </a:prstGeom>
        </p:spPr>
        <p:txBody>
          <a:bodyPr lIns="0" tIns="0" rIns="0" bIns="0" rtlCol="0" anchor="t">
            <a:spAutoFit/>
          </a:bodyPr>
          <a:lstStyle/>
          <a:p>
            <a:pPr marL="922243" lvl="1" indent="-461121" algn="l">
              <a:lnSpc>
                <a:spcPts val="4271"/>
              </a:lnSpc>
              <a:buFont typeface="Arial"/>
              <a:buChar char="•"/>
            </a:pPr>
            <a:r>
              <a:rPr lang="en-US" sz="4271" spc="-234">
                <a:solidFill>
                  <a:srgbClr val="2E2623"/>
                </a:solidFill>
                <a:latin typeface="Atkinson Hyperlegible"/>
                <a:ea typeface="Atkinson Hyperlegible"/>
                <a:cs typeface="Atkinson Hyperlegible"/>
                <a:sym typeface="Atkinson Hyperlegible"/>
              </a:rPr>
              <a:t>Introduction</a:t>
            </a:r>
          </a:p>
          <a:p>
            <a:pPr marL="922243" lvl="1" indent="-461121" algn="l">
              <a:lnSpc>
                <a:spcPts val="4271"/>
              </a:lnSpc>
              <a:buFont typeface="Arial"/>
              <a:buChar char="•"/>
            </a:pPr>
            <a:r>
              <a:rPr lang="en-US" sz="4271" spc="-234">
                <a:solidFill>
                  <a:srgbClr val="2E2623"/>
                </a:solidFill>
                <a:latin typeface="Atkinson Hyperlegible"/>
                <a:ea typeface="Atkinson Hyperlegible"/>
                <a:cs typeface="Atkinson Hyperlegible"/>
                <a:sym typeface="Atkinson Hyperlegible"/>
              </a:rPr>
              <a:t>Usage Trends and Insights</a:t>
            </a:r>
          </a:p>
          <a:p>
            <a:pPr marL="922243" lvl="1" indent="-461121" algn="l">
              <a:lnSpc>
                <a:spcPts val="4271"/>
              </a:lnSpc>
              <a:buFont typeface="Arial"/>
              <a:buChar char="•"/>
            </a:pPr>
            <a:r>
              <a:rPr lang="en-US" sz="4271" spc="-234">
                <a:solidFill>
                  <a:srgbClr val="2E2623"/>
                </a:solidFill>
                <a:latin typeface="Atkinson Hyperlegible"/>
                <a:ea typeface="Atkinson Hyperlegible"/>
                <a:cs typeface="Atkinson Hyperlegible"/>
                <a:sym typeface="Atkinson Hyperlegible"/>
              </a:rPr>
              <a:t>Recommendation</a:t>
            </a:r>
          </a:p>
          <a:p>
            <a:pPr marL="922243" lvl="1" indent="-461121" algn="l">
              <a:lnSpc>
                <a:spcPts val="4271"/>
              </a:lnSpc>
              <a:buFont typeface="Arial"/>
              <a:buChar char="•"/>
            </a:pPr>
            <a:r>
              <a:rPr lang="en-US" sz="4271" spc="-234">
                <a:solidFill>
                  <a:srgbClr val="2E2623"/>
                </a:solidFill>
                <a:latin typeface="Atkinson Hyperlegible"/>
                <a:ea typeface="Atkinson Hyperlegible"/>
                <a:cs typeface="Atkinson Hyperlegible"/>
                <a:sym typeface="Atkinson Hyperlegible"/>
              </a:rPr>
              <a:t>Conclusion</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grpSp>
        <p:nvGrpSpPr>
          <p:cNvPr id="2" name="Group 2"/>
          <p:cNvGrpSpPr/>
          <p:nvPr/>
        </p:nvGrpSpPr>
        <p:grpSpPr>
          <a:xfrm>
            <a:off x="17563879" y="3549799"/>
            <a:ext cx="563328" cy="563328"/>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18C7B"/>
            </a:solidFill>
          </p:spPr>
        </p:sp>
        <p:sp>
          <p:nvSpPr>
            <p:cNvPr id="4" name="TextBox 4"/>
            <p:cNvSpPr txBox="1"/>
            <p:nvPr/>
          </p:nvSpPr>
          <p:spPr>
            <a:xfrm>
              <a:off x="76200" y="-9525"/>
              <a:ext cx="660400" cy="746125"/>
            </a:xfrm>
            <a:prstGeom prst="rect">
              <a:avLst/>
            </a:prstGeom>
          </p:spPr>
          <p:txBody>
            <a:bodyPr lIns="34844" tIns="34844" rIns="34844" bIns="34844" rtlCol="0" anchor="ctr"/>
            <a:lstStyle/>
            <a:p>
              <a:pPr algn="ctr">
                <a:lnSpc>
                  <a:spcPts val="2239"/>
                </a:lnSpc>
              </a:pPr>
              <a:endParaRPr/>
            </a:p>
          </p:txBody>
        </p:sp>
      </p:grpSp>
      <p:sp>
        <p:nvSpPr>
          <p:cNvPr id="5" name="AutoShape 5"/>
          <p:cNvSpPr/>
          <p:nvPr/>
        </p:nvSpPr>
        <p:spPr>
          <a:xfrm flipV="1">
            <a:off x="1028700" y="689332"/>
            <a:ext cx="489623" cy="0"/>
          </a:xfrm>
          <a:prstGeom prst="line">
            <a:avLst/>
          </a:prstGeom>
          <a:ln w="28575" cap="flat">
            <a:solidFill>
              <a:srgbClr val="4A2C21"/>
            </a:solidFill>
            <a:prstDash val="solid"/>
            <a:headEnd type="none" w="sm" len="sm"/>
            <a:tailEnd type="none" w="sm" len="sm"/>
          </a:ln>
        </p:spPr>
      </p:sp>
      <p:sp>
        <p:nvSpPr>
          <p:cNvPr id="6" name="AutoShape 6"/>
          <p:cNvSpPr/>
          <p:nvPr/>
        </p:nvSpPr>
        <p:spPr>
          <a:xfrm flipV="1">
            <a:off x="1028700" y="790603"/>
            <a:ext cx="489623" cy="0"/>
          </a:xfrm>
          <a:prstGeom prst="line">
            <a:avLst/>
          </a:prstGeom>
          <a:ln w="28575" cap="flat">
            <a:solidFill>
              <a:srgbClr val="4A2C21"/>
            </a:solidFill>
            <a:prstDash val="solid"/>
            <a:headEnd type="none" w="sm" len="sm"/>
            <a:tailEnd type="none" w="sm" len="sm"/>
          </a:ln>
        </p:spPr>
      </p:sp>
      <p:sp>
        <p:nvSpPr>
          <p:cNvPr id="7" name="AutoShape 7"/>
          <p:cNvSpPr/>
          <p:nvPr/>
        </p:nvSpPr>
        <p:spPr>
          <a:xfrm>
            <a:off x="1028700" y="895378"/>
            <a:ext cx="353706" cy="0"/>
          </a:xfrm>
          <a:prstGeom prst="line">
            <a:avLst/>
          </a:prstGeom>
          <a:ln w="28575" cap="flat">
            <a:solidFill>
              <a:srgbClr val="4A2C21"/>
            </a:solidFill>
            <a:prstDash val="solid"/>
            <a:headEnd type="none" w="sm" len="sm"/>
            <a:tailEnd type="none" w="sm" len="sm"/>
          </a:ln>
        </p:spPr>
      </p:sp>
      <p:sp>
        <p:nvSpPr>
          <p:cNvPr id="8" name="AutoShape 8"/>
          <p:cNvSpPr/>
          <p:nvPr/>
        </p:nvSpPr>
        <p:spPr>
          <a:xfrm flipH="1">
            <a:off x="17578622" y="9251148"/>
            <a:ext cx="0" cy="1252579"/>
          </a:xfrm>
          <a:prstGeom prst="line">
            <a:avLst/>
          </a:prstGeom>
          <a:ln w="19050" cap="flat">
            <a:solidFill>
              <a:srgbClr val="4A2C21"/>
            </a:solidFill>
            <a:prstDash val="solid"/>
            <a:headEnd type="none" w="sm" len="sm"/>
            <a:tailEnd type="none" w="sm" len="sm"/>
          </a:ln>
        </p:spPr>
      </p:sp>
      <p:grpSp>
        <p:nvGrpSpPr>
          <p:cNvPr id="9" name="Group 9"/>
          <p:cNvGrpSpPr/>
          <p:nvPr/>
        </p:nvGrpSpPr>
        <p:grpSpPr>
          <a:xfrm>
            <a:off x="15680955" y="-593211"/>
            <a:ext cx="3835613" cy="383561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4A2C21"/>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2" name="Freeform 12"/>
          <p:cNvSpPr/>
          <p:nvPr/>
        </p:nvSpPr>
        <p:spPr>
          <a:xfrm>
            <a:off x="16686844" y="807815"/>
            <a:ext cx="742733" cy="854609"/>
          </a:xfrm>
          <a:custGeom>
            <a:avLst/>
            <a:gdLst/>
            <a:ahLst/>
            <a:cxnLst/>
            <a:rect l="l" t="t" r="r" b="b"/>
            <a:pathLst>
              <a:path w="742733" h="854609">
                <a:moveTo>
                  <a:pt x="0" y="0"/>
                </a:moveTo>
                <a:lnTo>
                  <a:pt x="742732" y="0"/>
                </a:lnTo>
                <a:lnTo>
                  <a:pt x="742732" y="854608"/>
                </a:lnTo>
                <a:lnTo>
                  <a:pt x="0" y="854608"/>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13" name="Freeform 13"/>
          <p:cNvSpPr/>
          <p:nvPr/>
        </p:nvSpPr>
        <p:spPr>
          <a:xfrm>
            <a:off x="15268497" y="23346"/>
            <a:ext cx="412458" cy="474586"/>
          </a:xfrm>
          <a:custGeom>
            <a:avLst/>
            <a:gdLst/>
            <a:ahLst/>
            <a:cxnLst/>
            <a:rect l="l" t="t" r="r" b="b"/>
            <a:pathLst>
              <a:path w="412458" h="474586">
                <a:moveTo>
                  <a:pt x="0" y="0"/>
                </a:moveTo>
                <a:lnTo>
                  <a:pt x="412458" y="0"/>
                </a:lnTo>
                <a:lnTo>
                  <a:pt x="412458" y="474586"/>
                </a:lnTo>
                <a:lnTo>
                  <a:pt x="0" y="47458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14" name="Freeform 14"/>
          <p:cNvSpPr/>
          <p:nvPr/>
        </p:nvSpPr>
        <p:spPr>
          <a:xfrm>
            <a:off x="822471" y="9021007"/>
            <a:ext cx="412458" cy="474586"/>
          </a:xfrm>
          <a:custGeom>
            <a:avLst/>
            <a:gdLst/>
            <a:ahLst/>
            <a:cxnLst/>
            <a:rect l="l" t="t" r="r" b="b"/>
            <a:pathLst>
              <a:path w="412458" h="474586">
                <a:moveTo>
                  <a:pt x="0" y="0"/>
                </a:moveTo>
                <a:lnTo>
                  <a:pt x="412458" y="0"/>
                </a:lnTo>
                <a:lnTo>
                  <a:pt x="412458" y="474586"/>
                </a:lnTo>
                <a:lnTo>
                  <a:pt x="0" y="47458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15" name="Freeform 15"/>
          <p:cNvSpPr/>
          <p:nvPr/>
        </p:nvSpPr>
        <p:spPr>
          <a:xfrm>
            <a:off x="9144000" y="2549680"/>
            <a:ext cx="8809412" cy="5814212"/>
          </a:xfrm>
          <a:custGeom>
            <a:avLst/>
            <a:gdLst/>
            <a:ahLst/>
            <a:cxnLst/>
            <a:rect l="l" t="t" r="r" b="b"/>
            <a:pathLst>
              <a:path w="8809412" h="5814212">
                <a:moveTo>
                  <a:pt x="0" y="0"/>
                </a:moveTo>
                <a:lnTo>
                  <a:pt x="8809412" y="0"/>
                </a:lnTo>
                <a:lnTo>
                  <a:pt x="8809412" y="5814212"/>
                </a:lnTo>
                <a:lnTo>
                  <a:pt x="0" y="5814212"/>
                </a:lnTo>
                <a:lnTo>
                  <a:pt x="0" y="0"/>
                </a:lnTo>
                <a:close/>
              </a:path>
            </a:pathLst>
          </a:custGeom>
          <a:blipFill>
            <a:blip r:embed="rId4"/>
            <a:stretch>
              <a:fillRect/>
            </a:stretch>
          </a:blipFill>
        </p:spPr>
      </p:sp>
      <p:sp>
        <p:nvSpPr>
          <p:cNvPr id="16" name="TextBox 16"/>
          <p:cNvSpPr txBox="1"/>
          <p:nvPr/>
        </p:nvSpPr>
        <p:spPr>
          <a:xfrm>
            <a:off x="2433121" y="118499"/>
            <a:ext cx="10913388" cy="1925320"/>
          </a:xfrm>
          <a:prstGeom prst="rect">
            <a:avLst/>
          </a:prstGeom>
        </p:spPr>
        <p:txBody>
          <a:bodyPr lIns="0" tIns="0" rIns="0" bIns="0" rtlCol="0" anchor="t">
            <a:spAutoFit/>
          </a:bodyPr>
          <a:lstStyle/>
          <a:p>
            <a:pPr algn="ctr">
              <a:lnSpc>
                <a:spcPts val="6800"/>
              </a:lnSpc>
            </a:pPr>
            <a:r>
              <a:rPr lang="en-US" sz="6800" spc="-374">
                <a:solidFill>
                  <a:srgbClr val="2E2623"/>
                </a:solidFill>
                <a:latin typeface="Heading Now 71-78"/>
                <a:ea typeface="Heading Now 71-78"/>
                <a:cs typeface="Heading Now 71-78"/>
                <a:sym typeface="Heading Now 71-78"/>
              </a:rPr>
              <a:t>Usage Trends and insights</a:t>
            </a:r>
          </a:p>
        </p:txBody>
      </p:sp>
      <p:sp>
        <p:nvSpPr>
          <p:cNvPr id="17" name="TextBox 17"/>
          <p:cNvSpPr txBox="1"/>
          <p:nvPr/>
        </p:nvSpPr>
        <p:spPr>
          <a:xfrm>
            <a:off x="624913" y="2272419"/>
            <a:ext cx="7998759" cy="7477125"/>
          </a:xfrm>
          <a:prstGeom prst="rect">
            <a:avLst/>
          </a:prstGeom>
        </p:spPr>
        <p:txBody>
          <a:bodyPr lIns="0" tIns="0" rIns="0" bIns="0" rtlCol="0" anchor="t">
            <a:spAutoFit/>
          </a:bodyPr>
          <a:lstStyle/>
          <a:p>
            <a:pPr algn="l">
              <a:lnSpc>
                <a:spcPts val="4389"/>
              </a:lnSpc>
            </a:pPr>
            <a:r>
              <a:rPr lang="en-US" sz="3657" b="1" u="sng">
                <a:solidFill>
                  <a:srgbClr val="2E2623"/>
                </a:solidFill>
                <a:latin typeface="TT Firs Neue Bold"/>
                <a:ea typeface="TT Firs Neue Bold"/>
                <a:cs typeface="TT Firs Neue Bold"/>
                <a:sym typeface="TT Firs Neue Bold"/>
              </a:rPr>
              <a:t>The usage data sample was collected frtom JAN to MA</a:t>
            </a:r>
            <a:r>
              <a:rPr lang="en-US" sz="3657" b="1">
                <a:solidFill>
                  <a:srgbClr val="2E2623"/>
                </a:solidFill>
                <a:latin typeface="TT Firs Neue Bold"/>
                <a:ea typeface="TT Firs Neue Bold"/>
                <a:cs typeface="TT Firs Neue Bold"/>
                <a:sym typeface="TT Firs Neue Bold"/>
              </a:rPr>
              <a:t>R</a:t>
            </a:r>
            <a:r>
              <a:rPr lang="en-US" sz="3657">
                <a:solidFill>
                  <a:srgbClr val="2E2623"/>
                </a:solidFill>
                <a:latin typeface="TT Firs Neue"/>
                <a:ea typeface="TT Firs Neue"/>
                <a:cs typeface="TT Firs Neue"/>
                <a:sym typeface="TT Firs Neue"/>
              </a:rPr>
              <a:t> </a:t>
            </a:r>
          </a:p>
          <a:p>
            <a:pPr algn="l">
              <a:lnSpc>
                <a:spcPts val="4389"/>
              </a:lnSpc>
            </a:pPr>
            <a:endParaRPr lang="en-US" sz="3657">
              <a:solidFill>
                <a:srgbClr val="2E2623"/>
              </a:solidFill>
              <a:latin typeface="TT Firs Neue"/>
              <a:ea typeface="TT Firs Neue"/>
              <a:cs typeface="TT Firs Neue"/>
              <a:sym typeface="TT Firs Neue"/>
            </a:endParaRPr>
          </a:p>
          <a:p>
            <a:pPr marL="638580" lvl="1" indent="-319290" algn="l">
              <a:lnSpc>
                <a:spcPts val="3549"/>
              </a:lnSpc>
              <a:buFont typeface="Arial"/>
              <a:buChar char="•"/>
            </a:pPr>
            <a:r>
              <a:rPr lang="en-US" sz="2957">
                <a:solidFill>
                  <a:srgbClr val="2E2623"/>
                </a:solidFill>
                <a:latin typeface="TT Firs Neue"/>
                <a:ea typeface="TT Firs Neue"/>
                <a:cs typeface="TT Firs Neue"/>
                <a:sym typeface="TT Firs Neue"/>
              </a:rPr>
              <a:t>The first trend of usage is that March was the highest month in terms of viewership with a total of 3368 registered viewers tuning in programs. January has the lowest 1505 viewers.</a:t>
            </a:r>
          </a:p>
          <a:p>
            <a:pPr algn="l">
              <a:lnSpc>
                <a:spcPts val="3549"/>
              </a:lnSpc>
            </a:pPr>
            <a:endParaRPr lang="en-US" sz="2957">
              <a:solidFill>
                <a:srgbClr val="2E2623"/>
              </a:solidFill>
              <a:latin typeface="TT Firs Neue"/>
              <a:ea typeface="TT Firs Neue"/>
              <a:cs typeface="TT Firs Neue"/>
              <a:sym typeface="TT Firs Neue"/>
            </a:endParaRPr>
          </a:p>
          <a:p>
            <a:pPr marL="638580" lvl="1" indent="-319290" algn="l">
              <a:lnSpc>
                <a:spcPts val="3549"/>
              </a:lnSpc>
              <a:buFont typeface="Arial"/>
              <a:buChar char="•"/>
            </a:pPr>
            <a:r>
              <a:rPr lang="en-US" sz="2957">
                <a:solidFill>
                  <a:srgbClr val="2E2623"/>
                </a:solidFill>
                <a:latin typeface="TT Firs Neue"/>
                <a:ea typeface="TT Firs Neue"/>
                <a:cs typeface="TT Firs Neue"/>
                <a:sym typeface="TT Firs Neue"/>
              </a:rPr>
              <a:t>Week days particularly Wednesdays  have the highest viewer consumptions.</a:t>
            </a:r>
          </a:p>
          <a:p>
            <a:pPr algn="l">
              <a:lnSpc>
                <a:spcPts val="3549"/>
              </a:lnSpc>
            </a:pPr>
            <a:endParaRPr lang="en-US" sz="2957">
              <a:solidFill>
                <a:srgbClr val="2E2623"/>
              </a:solidFill>
              <a:latin typeface="TT Firs Neue"/>
              <a:ea typeface="TT Firs Neue"/>
              <a:cs typeface="TT Firs Neue"/>
              <a:sym typeface="TT Firs Neue"/>
            </a:endParaRPr>
          </a:p>
          <a:p>
            <a:pPr marL="638580" lvl="1" indent="-319290" algn="l">
              <a:lnSpc>
                <a:spcPts val="3549"/>
              </a:lnSpc>
              <a:buFont typeface="Arial"/>
              <a:buChar char="•"/>
            </a:pPr>
            <a:r>
              <a:rPr lang="en-US" sz="2957">
                <a:solidFill>
                  <a:srgbClr val="2E2623"/>
                </a:solidFill>
                <a:latin typeface="TT Firs Neue"/>
                <a:ea typeface="TT Firs Neue"/>
                <a:cs typeface="TT Firs Neue"/>
                <a:sym typeface="TT Firs Neue"/>
              </a:rPr>
              <a:t>Weekends have in March had a spike in viewership this can be attributed with an international sports events which will be shown in later slides.  </a:t>
            </a:r>
          </a:p>
        </p:txBody>
      </p:sp>
      <p:sp>
        <p:nvSpPr>
          <p:cNvPr id="18" name="TextBox 18"/>
          <p:cNvSpPr txBox="1"/>
          <p:nvPr/>
        </p:nvSpPr>
        <p:spPr>
          <a:xfrm>
            <a:off x="10071631" y="9972615"/>
            <a:ext cx="3460062" cy="619244"/>
          </a:xfrm>
          <a:prstGeom prst="rect">
            <a:avLst/>
          </a:prstGeom>
        </p:spPr>
        <p:txBody>
          <a:bodyPr lIns="0" tIns="0" rIns="0" bIns="0" rtlCol="0" anchor="t">
            <a:spAutoFit/>
          </a:bodyPr>
          <a:lstStyle/>
          <a:p>
            <a:pPr algn="l">
              <a:lnSpc>
                <a:spcPts val="2400"/>
              </a:lnSpc>
            </a:pPr>
            <a:r>
              <a:rPr lang="en-US" sz="2000">
                <a:solidFill>
                  <a:srgbClr val="2E2623"/>
                </a:solidFill>
                <a:latin typeface="TT Firs Neue"/>
                <a:ea typeface="TT Firs Neue"/>
                <a:cs typeface="TT Firs Neue"/>
                <a:sym typeface="TT Firs Neue"/>
              </a:rPr>
              <a:t>Alerts you instantly when unusual activity is detected.</a:t>
            </a:r>
          </a:p>
        </p:txBody>
      </p:sp>
      <p:sp>
        <p:nvSpPr>
          <p:cNvPr id="19" name="TextBox 19"/>
          <p:cNvSpPr txBox="1"/>
          <p:nvPr/>
        </p:nvSpPr>
        <p:spPr>
          <a:xfrm rot="5400000">
            <a:off x="15298728" y="6551374"/>
            <a:ext cx="4558876" cy="297180"/>
          </a:xfrm>
          <a:prstGeom prst="rect">
            <a:avLst/>
          </a:prstGeom>
        </p:spPr>
        <p:txBody>
          <a:bodyPr lIns="0" tIns="0" rIns="0" bIns="0" rtlCol="0" anchor="t">
            <a:spAutoFit/>
          </a:bodyPr>
          <a:lstStyle/>
          <a:p>
            <a:pPr algn="r">
              <a:lnSpc>
                <a:spcPts val="2520"/>
              </a:lnSpc>
            </a:pPr>
            <a:r>
              <a:rPr lang="en-US" sz="1800" i="1" spc="392">
                <a:solidFill>
                  <a:srgbClr val="2E2623"/>
                </a:solidFill>
                <a:latin typeface="TT Firs Neue Italics"/>
                <a:ea typeface="TT Firs Neue Italics"/>
                <a:cs typeface="TT Firs Neue Italics"/>
                <a:sym typeface="TT Firs Neue Italics"/>
              </a:rPr>
              <a:t>BRIGHT TV DATA</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sp>
        <p:nvSpPr>
          <p:cNvPr id="2" name="AutoShape 2"/>
          <p:cNvSpPr/>
          <p:nvPr/>
        </p:nvSpPr>
        <p:spPr>
          <a:xfrm>
            <a:off x="10220897" y="-244548"/>
            <a:ext cx="0" cy="9495696"/>
          </a:xfrm>
          <a:prstGeom prst="line">
            <a:avLst/>
          </a:prstGeom>
          <a:ln w="19050" cap="flat">
            <a:solidFill>
              <a:srgbClr val="4A2C21"/>
            </a:solidFill>
            <a:prstDash val="solid"/>
            <a:headEnd type="none" w="sm" len="sm"/>
            <a:tailEnd type="none" w="sm" len="sm"/>
          </a:ln>
        </p:spPr>
      </p:sp>
      <p:sp>
        <p:nvSpPr>
          <p:cNvPr id="3" name="AutoShape 3"/>
          <p:cNvSpPr/>
          <p:nvPr/>
        </p:nvSpPr>
        <p:spPr>
          <a:xfrm flipV="1">
            <a:off x="1028700" y="689332"/>
            <a:ext cx="489623" cy="0"/>
          </a:xfrm>
          <a:prstGeom prst="line">
            <a:avLst/>
          </a:prstGeom>
          <a:ln w="28575" cap="flat">
            <a:solidFill>
              <a:srgbClr val="4A2C21"/>
            </a:solidFill>
            <a:prstDash val="solid"/>
            <a:headEnd type="none" w="sm" len="sm"/>
            <a:tailEnd type="none" w="sm" len="sm"/>
          </a:ln>
        </p:spPr>
      </p:sp>
      <p:sp>
        <p:nvSpPr>
          <p:cNvPr id="4" name="AutoShape 4"/>
          <p:cNvSpPr/>
          <p:nvPr/>
        </p:nvSpPr>
        <p:spPr>
          <a:xfrm flipV="1">
            <a:off x="1028700" y="790603"/>
            <a:ext cx="489623" cy="0"/>
          </a:xfrm>
          <a:prstGeom prst="line">
            <a:avLst/>
          </a:prstGeom>
          <a:ln w="28575" cap="flat">
            <a:solidFill>
              <a:srgbClr val="4A2C21"/>
            </a:solidFill>
            <a:prstDash val="solid"/>
            <a:headEnd type="none" w="sm" len="sm"/>
            <a:tailEnd type="none" w="sm" len="sm"/>
          </a:ln>
        </p:spPr>
      </p:sp>
      <p:sp>
        <p:nvSpPr>
          <p:cNvPr id="5" name="AutoShape 5"/>
          <p:cNvSpPr/>
          <p:nvPr/>
        </p:nvSpPr>
        <p:spPr>
          <a:xfrm>
            <a:off x="1028700" y="895378"/>
            <a:ext cx="353706" cy="0"/>
          </a:xfrm>
          <a:prstGeom prst="line">
            <a:avLst/>
          </a:prstGeom>
          <a:ln w="28575" cap="flat">
            <a:solidFill>
              <a:srgbClr val="4A2C21"/>
            </a:solidFill>
            <a:prstDash val="solid"/>
            <a:headEnd type="none" w="sm" len="sm"/>
            <a:tailEnd type="none" w="sm" len="sm"/>
          </a:ln>
        </p:spPr>
      </p:sp>
      <p:sp>
        <p:nvSpPr>
          <p:cNvPr id="6" name="AutoShape 6"/>
          <p:cNvSpPr/>
          <p:nvPr/>
        </p:nvSpPr>
        <p:spPr>
          <a:xfrm flipH="1">
            <a:off x="17578622" y="9251148"/>
            <a:ext cx="0" cy="1252579"/>
          </a:xfrm>
          <a:prstGeom prst="line">
            <a:avLst/>
          </a:prstGeom>
          <a:ln w="19050" cap="flat">
            <a:solidFill>
              <a:srgbClr val="4A2C21"/>
            </a:solidFill>
            <a:prstDash val="solid"/>
            <a:headEnd type="none" w="sm" len="sm"/>
            <a:tailEnd type="none" w="sm" len="sm"/>
          </a:ln>
        </p:spPr>
      </p:sp>
      <p:sp>
        <p:nvSpPr>
          <p:cNvPr id="7" name="TextBox 7"/>
          <p:cNvSpPr txBox="1"/>
          <p:nvPr/>
        </p:nvSpPr>
        <p:spPr>
          <a:xfrm>
            <a:off x="2575897" y="105131"/>
            <a:ext cx="6396043" cy="1139827"/>
          </a:xfrm>
          <a:prstGeom prst="rect">
            <a:avLst/>
          </a:prstGeom>
        </p:spPr>
        <p:txBody>
          <a:bodyPr lIns="0" tIns="0" rIns="0" bIns="0" rtlCol="0" anchor="t">
            <a:spAutoFit/>
          </a:bodyPr>
          <a:lstStyle/>
          <a:p>
            <a:pPr algn="l">
              <a:lnSpc>
                <a:spcPts val="4000"/>
              </a:lnSpc>
            </a:pPr>
            <a:r>
              <a:rPr lang="en-US" sz="4000" spc="-220">
                <a:solidFill>
                  <a:srgbClr val="2E2623"/>
                </a:solidFill>
                <a:latin typeface="Heading Now 71-78"/>
                <a:ea typeface="Heading Now 71-78"/>
                <a:cs typeface="Heading Now 71-78"/>
                <a:sym typeface="Heading Now 71-78"/>
              </a:rPr>
              <a:t>Usage trends continued by Channel</a:t>
            </a:r>
          </a:p>
        </p:txBody>
      </p:sp>
      <p:sp>
        <p:nvSpPr>
          <p:cNvPr id="8" name="Freeform 8"/>
          <p:cNvSpPr/>
          <p:nvPr/>
        </p:nvSpPr>
        <p:spPr>
          <a:xfrm>
            <a:off x="6172235" y="1028700"/>
            <a:ext cx="412458" cy="474586"/>
          </a:xfrm>
          <a:custGeom>
            <a:avLst/>
            <a:gdLst/>
            <a:ahLst/>
            <a:cxnLst/>
            <a:rect l="l" t="t" r="r" b="b"/>
            <a:pathLst>
              <a:path w="412458" h="474586">
                <a:moveTo>
                  <a:pt x="0" y="0"/>
                </a:moveTo>
                <a:lnTo>
                  <a:pt x="412459" y="0"/>
                </a:lnTo>
                <a:lnTo>
                  <a:pt x="412459" y="474586"/>
                </a:lnTo>
                <a:lnTo>
                  <a:pt x="0" y="47458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9" name="Freeform 9"/>
          <p:cNvSpPr/>
          <p:nvPr/>
        </p:nvSpPr>
        <p:spPr>
          <a:xfrm>
            <a:off x="17465529" y="9812414"/>
            <a:ext cx="412458" cy="474586"/>
          </a:xfrm>
          <a:custGeom>
            <a:avLst/>
            <a:gdLst/>
            <a:ahLst/>
            <a:cxnLst/>
            <a:rect l="l" t="t" r="r" b="b"/>
            <a:pathLst>
              <a:path w="412458" h="474586">
                <a:moveTo>
                  <a:pt x="0" y="0"/>
                </a:moveTo>
                <a:lnTo>
                  <a:pt x="412459" y="0"/>
                </a:lnTo>
                <a:lnTo>
                  <a:pt x="412459" y="474586"/>
                </a:lnTo>
                <a:lnTo>
                  <a:pt x="0" y="47458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10" name="Freeform 10"/>
          <p:cNvSpPr/>
          <p:nvPr/>
        </p:nvSpPr>
        <p:spPr>
          <a:xfrm>
            <a:off x="17259300" y="3414119"/>
            <a:ext cx="412458" cy="474586"/>
          </a:xfrm>
          <a:custGeom>
            <a:avLst/>
            <a:gdLst/>
            <a:ahLst/>
            <a:cxnLst/>
            <a:rect l="l" t="t" r="r" b="b"/>
            <a:pathLst>
              <a:path w="412458" h="474586">
                <a:moveTo>
                  <a:pt x="0" y="0"/>
                </a:moveTo>
                <a:lnTo>
                  <a:pt x="412458" y="0"/>
                </a:lnTo>
                <a:lnTo>
                  <a:pt x="412458" y="474586"/>
                </a:lnTo>
                <a:lnTo>
                  <a:pt x="0" y="47458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11" name="Freeform 11"/>
          <p:cNvSpPr/>
          <p:nvPr/>
        </p:nvSpPr>
        <p:spPr>
          <a:xfrm>
            <a:off x="7505762" y="895378"/>
            <a:ext cx="10782238" cy="6742376"/>
          </a:xfrm>
          <a:custGeom>
            <a:avLst/>
            <a:gdLst/>
            <a:ahLst/>
            <a:cxnLst/>
            <a:rect l="l" t="t" r="r" b="b"/>
            <a:pathLst>
              <a:path w="10782238" h="6742376">
                <a:moveTo>
                  <a:pt x="0" y="0"/>
                </a:moveTo>
                <a:lnTo>
                  <a:pt x="10782238" y="0"/>
                </a:lnTo>
                <a:lnTo>
                  <a:pt x="10782238" y="6742376"/>
                </a:lnTo>
                <a:lnTo>
                  <a:pt x="0" y="6742376"/>
                </a:lnTo>
                <a:lnTo>
                  <a:pt x="0" y="0"/>
                </a:lnTo>
                <a:close/>
              </a:path>
            </a:pathLst>
          </a:custGeom>
          <a:blipFill>
            <a:blip r:embed="rId4"/>
            <a:stretch>
              <a:fillRect r="-4220"/>
            </a:stretch>
          </a:blipFill>
        </p:spPr>
      </p:sp>
      <p:sp>
        <p:nvSpPr>
          <p:cNvPr id="12" name="TextBox 12"/>
          <p:cNvSpPr txBox="1"/>
          <p:nvPr/>
        </p:nvSpPr>
        <p:spPr>
          <a:xfrm rot="5400000">
            <a:off x="15298728" y="6551374"/>
            <a:ext cx="4558876" cy="297180"/>
          </a:xfrm>
          <a:prstGeom prst="rect">
            <a:avLst/>
          </a:prstGeom>
        </p:spPr>
        <p:txBody>
          <a:bodyPr lIns="0" tIns="0" rIns="0" bIns="0" rtlCol="0" anchor="t">
            <a:spAutoFit/>
          </a:bodyPr>
          <a:lstStyle/>
          <a:p>
            <a:pPr algn="r">
              <a:lnSpc>
                <a:spcPts val="2520"/>
              </a:lnSpc>
            </a:pPr>
            <a:r>
              <a:rPr lang="en-US" sz="1800" i="1" spc="392">
                <a:solidFill>
                  <a:srgbClr val="2E2623"/>
                </a:solidFill>
                <a:latin typeface="TT Firs Neue Italics"/>
                <a:ea typeface="TT Firs Neue Italics"/>
                <a:cs typeface="TT Firs Neue Italics"/>
                <a:sym typeface="TT Firs Neue Italics"/>
              </a:rPr>
              <a:t>BRIGHT TV DATA</a:t>
            </a:r>
          </a:p>
        </p:txBody>
      </p:sp>
      <p:sp>
        <p:nvSpPr>
          <p:cNvPr id="13" name="TextBox 13"/>
          <p:cNvSpPr txBox="1"/>
          <p:nvPr/>
        </p:nvSpPr>
        <p:spPr>
          <a:xfrm>
            <a:off x="2048589" y="2422637"/>
            <a:ext cx="3184803" cy="613333"/>
          </a:xfrm>
          <a:prstGeom prst="rect">
            <a:avLst/>
          </a:prstGeom>
        </p:spPr>
        <p:txBody>
          <a:bodyPr lIns="0" tIns="0" rIns="0" bIns="0" rtlCol="0" anchor="t">
            <a:spAutoFit/>
          </a:bodyPr>
          <a:lstStyle/>
          <a:p>
            <a:pPr algn="l">
              <a:lnSpc>
                <a:spcPts val="5044"/>
              </a:lnSpc>
            </a:pPr>
            <a:r>
              <a:rPr lang="en-US" sz="3603" b="1">
                <a:solidFill>
                  <a:srgbClr val="FFFFFF"/>
                </a:solidFill>
                <a:latin typeface="TT Firs Neue Bold"/>
                <a:ea typeface="TT Firs Neue Bold"/>
                <a:cs typeface="TT Firs Neue Bold"/>
                <a:sym typeface="TT Firs Neue Bold"/>
              </a:rPr>
              <a:t>Yourkkkn text</a:t>
            </a:r>
          </a:p>
        </p:txBody>
      </p:sp>
      <p:sp>
        <p:nvSpPr>
          <p:cNvPr id="14" name="TextBox 14"/>
          <p:cNvSpPr txBox="1"/>
          <p:nvPr/>
        </p:nvSpPr>
        <p:spPr>
          <a:xfrm>
            <a:off x="442969" y="2708954"/>
            <a:ext cx="6396043" cy="4601847"/>
          </a:xfrm>
          <a:prstGeom prst="rect">
            <a:avLst/>
          </a:prstGeom>
        </p:spPr>
        <p:txBody>
          <a:bodyPr lIns="0" tIns="0" rIns="0" bIns="0" rtlCol="0" anchor="t">
            <a:spAutoFit/>
          </a:bodyPr>
          <a:lstStyle/>
          <a:p>
            <a:pPr marL="626132" lvl="1" indent="-313066" algn="l">
              <a:lnSpc>
                <a:spcPts val="2900"/>
              </a:lnSpc>
              <a:buFont typeface="Arial"/>
              <a:buChar char="•"/>
            </a:pPr>
            <a:r>
              <a:rPr lang="en-US" sz="2900" spc="-159">
                <a:solidFill>
                  <a:srgbClr val="2E2623"/>
                </a:solidFill>
                <a:latin typeface="Atkinson Hyperlegible"/>
                <a:ea typeface="Atkinson Hyperlegible"/>
                <a:cs typeface="Atkinson Hyperlegible"/>
                <a:sym typeface="Atkinson Hyperlegible"/>
              </a:rPr>
              <a:t>The </a:t>
            </a:r>
            <a:r>
              <a:rPr lang="en-US" sz="2900" b="1" spc="-159">
                <a:solidFill>
                  <a:srgbClr val="2E2623"/>
                </a:solidFill>
                <a:latin typeface="Atkinson Hyperlegible Bold"/>
                <a:ea typeface="Atkinson Hyperlegible Bold"/>
                <a:cs typeface="Atkinson Hyperlegible Bold"/>
                <a:sym typeface="Atkinson Hyperlegible Bold"/>
              </a:rPr>
              <a:t>top 3</a:t>
            </a:r>
            <a:r>
              <a:rPr lang="en-US" sz="2900" spc="-159">
                <a:solidFill>
                  <a:srgbClr val="2E2623"/>
                </a:solidFill>
                <a:latin typeface="Atkinson Hyperlegible"/>
                <a:ea typeface="Atkinson Hyperlegible"/>
                <a:cs typeface="Atkinson Hyperlegible"/>
                <a:sym typeface="Atkinson Hyperlegible"/>
              </a:rPr>
              <a:t> most watched channel on trends is Supersport Live Events (1662,) ICC Cricket World Cup event (1465) and Channel O with (1050 )viewers over 3 month period.</a:t>
            </a:r>
          </a:p>
          <a:p>
            <a:pPr algn="l">
              <a:lnSpc>
                <a:spcPts val="2900"/>
              </a:lnSpc>
            </a:pPr>
            <a:endParaRPr lang="en-US" sz="2900" spc="-159">
              <a:solidFill>
                <a:srgbClr val="2E2623"/>
              </a:solidFill>
              <a:latin typeface="Atkinson Hyperlegible"/>
              <a:ea typeface="Atkinson Hyperlegible"/>
              <a:cs typeface="Atkinson Hyperlegible"/>
              <a:sym typeface="Atkinson Hyperlegible"/>
            </a:endParaRPr>
          </a:p>
          <a:p>
            <a:pPr marL="690900" lvl="1" indent="-345450" algn="l">
              <a:lnSpc>
                <a:spcPts val="3200"/>
              </a:lnSpc>
              <a:buFont typeface="Arial"/>
              <a:buChar char="•"/>
            </a:pPr>
            <a:r>
              <a:rPr lang="en-US" sz="3200" spc="-176">
                <a:solidFill>
                  <a:srgbClr val="2E2623"/>
                </a:solidFill>
                <a:latin typeface="Atkinson Hyperlegible"/>
                <a:ea typeface="Atkinson Hyperlegible"/>
                <a:cs typeface="Atkinson Hyperlegible"/>
                <a:sym typeface="Atkinson Hyperlegible"/>
              </a:rPr>
              <a:t>The most concerning and least watched channels are Kyknet(45), Wimbeldon(3), and MK (32) amongst others</a:t>
            </a:r>
          </a:p>
          <a:p>
            <a:pPr marL="690900" lvl="1" indent="-345450" algn="l">
              <a:lnSpc>
                <a:spcPts val="3200"/>
              </a:lnSpc>
              <a:buFont typeface="Arial"/>
              <a:buChar char="•"/>
            </a:pPr>
            <a:r>
              <a:rPr lang="en-US" sz="3200" spc="-176">
                <a:solidFill>
                  <a:srgbClr val="2E2623"/>
                </a:solidFill>
                <a:latin typeface="Atkinson Hyperlegible"/>
                <a:ea typeface="Atkinson Hyperlegible"/>
                <a:cs typeface="Atkinson Hyperlegible"/>
                <a:sym typeface="Atkinson Hyperlegible"/>
              </a:rPr>
              <a:t>We have a total of 22 Channels on Bright Tv schedule</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grpSp>
        <p:nvGrpSpPr>
          <p:cNvPr id="2" name="Group 2"/>
          <p:cNvGrpSpPr/>
          <p:nvPr/>
        </p:nvGrpSpPr>
        <p:grpSpPr>
          <a:xfrm>
            <a:off x="17287540" y="1119470"/>
            <a:ext cx="821282" cy="821282"/>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18C7B"/>
            </a:solidFill>
          </p:spPr>
        </p:sp>
        <p:sp>
          <p:nvSpPr>
            <p:cNvPr id="4" name="TextBox 4"/>
            <p:cNvSpPr txBox="1"/>
            <p:nvPr/>
          </p:nvSpPr>
          <p:spPr>
            <a:xfrm>
              <a:off x="76200" y="-9525"/>
              <a:ext cx="660400" cy="746125"/>
            </a:xfrm>
            <a:prstGeom prst="rect">
              <a:avLst/>
            </a:prstGeom>
          </p:spPr>
          <p:txBody>
            <a:bodyPr lIns="50800" tIns="50800" rIns="50800" bIns="50800" rtlCol="0" anchor="ctr"/>
            <a:lstStyle/>
            <a:p>
              <a:pPr algn="ctr">
                <a:lnSpc>
                  <a:spcPts val="2239"/>
                </a:lnSpc>
              </a:pPr>
              <a:endParaRPr/>
            </a:p>
          </p:txBody>
        </p:sp>
      </p:grpSp>
      <p:grpSp>
        <p:nvGrpSpPr>
          <p:cNvPr id="5" name="Group 5"/>
          <p:cNvGrpSpPr/>
          <p:nvPr/>
        </p:nvGrpSpPr>
        <p:grpSpPr>
          <a:xfrm>
            <a:off x="17167981" y="142669"/>
            <a:ext cx="821282" cy="82128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18C7B"/>
            </a:solidFill>
          </p:spPr>
        </p:sp>
        <p:sp>
          <p:nvSpPr>
            <p:cNvPr id="7" name="TextBox 7"/>
            <p:cNvSpPr txBox="1"/>
            <p:nvPr/>
          </p:nvSpPr>
          <p:spPr>
            <a:xfrm>
              <a:off x="76200" y="-9525"/>
              <a:ext cx="660400" cy="746125"/>
            </a:xfrm>
            <a:prstGeom prst="rect">
              <a:avLst/>
            </a:prstGeom>
          </p:spPr>
          <p:txBody>
            <a:bodyPr lIns="50800" tIns="50800" rIns="50800" bIns="50800" rtlCol="0" anchor="ctr"/>
            <a:lstStyle/>
            <a:p>
              <a:pPr algn="ctr">
                <a:lnSpc>
                  <a:spcPts val="2239"/>
                </a:lnSpc>
              </a:pPr>
              <a:endParaRPr/>
            </a:p>
          </p:txBody>
        </p:sp>
      </p:grpSp>
      <p:sp>
        <p:nvSpPr>
          <p:cNvPr id="8" name="Freeform 8"/>
          <p:cNvSpPr/>
          <p:nvPr/>
        </p:nvSpPr>
        <p:spPr>
          <a:xfrm>
            <a:off x="10823215" y="3804371"/>
            <a:ext cx="395400" cy="395400"/>
          </a:xfrm>
          <a:custGeom>
            <a:avLst/>
            <a:gdLst/>
            <a:ahLst/>
            <a:cxnLst/>
            <a:rect l="l" t="t" r="r" b="b"/>
            <a:pathLst>
              <a:path w="395400" h="395400">
                <a:moveTo>
                  <a:pt x="0" y="0"/>
                </a:moveTo>
                <a:lnTo>
                  <a:pt x="395399" y="0"/>
                </a:lnTo>
                <a:lnTo>
                  <a:pt x="395399" y="395400"/>
                </a:lnTo>
                <a:lnTo>
                  <a:pt x="0" y="39540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9" name="AutoShape 9"/>
          <p:cNvSpPr/>
          <p:nvPr/>
        </p:nvSpPr>
        <p:spPr>
          <a:xfrm flipV="1">
            <a:off x="1028700" y="689332"/>
            <a:ext cx="489623" cy="0"/>
          </a:xfrm>
          <a:prstGeom prst="line">
            <a:avLst/>
          </a:prstGeom>
          <a:ln w="28575" cap="flat">
            <a:solidFill>
              <a:srgbClr val="4A2C21"/>
            </a:solidFill>
            <a:prstDash val="solid"/>
            <a:headEnd type="none" w="sm" len="sm"/>
            <a:tailEnd type="none" w="sm" len="sm"/>
          </a:ln>
        </p:spPr>
      </p:sp>
      <p:sp>
        <p:nvSpPr>
          <p:cNvPr id="10" name="AutoShape 10"/>
          <p:cNvSpPr/>
          <p:nvPr/>
        </p:nvSpPr>
        <p:spPr>
          <a:xfrm flipV="1">
            <a:off x="1028700" y="790603"/>
            <a:ext cx="489623" cy="0"/>
          </a:xfrm>
          <a:prstGeom prst="line">
            <a:avLst/>
          </a:prstGeom>
          <a:ln w="28575" cap="flat">
            <a:solidFill>
              <a:srgbClr val="4A2C21"/>
            </a:solidFill>
            <a:prstDash val="solid"/>
            <a:headEnd type="none" w="sm" len="sm"/>
            <a:tailEnd type="none" w="sm" len="sm"/>
          </a:ln>
        </p:spPr>
      </p:sp>
      <p:sp>
        <p:nvSpPr>
          <p:cNvPr id="11" name="AutoShape 11"/>
          <p:cNvSpPr/>
          <p:nvPr/>
        </p:nvSpPr>
        <p:spPr>
          <a:xfrm>
            <a:off x="1028700" y="895378"/>
            <a:ext cx="353706" cy="0"/>
          </a:xfrm>
          <a:prstGeom prst="line">
            <a:avLst/>
          </a:prstGeom>
          <a:ln w="28575" cap="flat">
            <a:solidFill>
              <a:srgbClr val="4A2C21"/>
            </a:solidFill>
            <a:prstDash val="solid"/>
            <a:headEnd type="none" w="sm" len="sm"/>
            <a:tailEnd type="none" w="sm" len="sm"/>
          </a:ln>
        </p:spPr>
      </p:sp>
      <p:sp>
        <p:nvSpPr>
          <p:cNvPr id="12" name="AutoShape 12"/>
          <p:cNvSpPr/>
          <p:nvPr/>
        </p:nvSpPr>
        <p:spPr>
          <a:xfrm flipH="1">
            <a:off x="17578622" y="9251148"/>
            <a:ext cx="0" cy="1252579"/>
          </a:xfrm>
          <a:prstGeom prst="line">
            <a:avLst/>
          </a:prstGeom>
          <a:ln w="19050" cap="flat">
            <a:solidFill>
              <a:srgbClr val="4A2C21"/>
            </a:solidFill>
            <a:prstDash val="solid"/>
            <a:headEnd type="none" w="sm" len="sm"/>
            <a:tailEnd type="none" w="sm" len="sm"/>
          </a:ln>
        </p:spPr>
      </p:sp>
      <p:sp>
        <p:nvSpPr>
          <p:cNvPr id="13" name="Freeform 13"/>
          <p:cNvSpPr/>
          <p:nvPr/>
        </p:nvSpPr>
        <p:spPr>
          <a:xfrm>
            <a:off x="16738962" y="553310"/>
            <a:ext cx="412458" cy="474586"/>
          </a:xfrm>
          <a:custGeom>
            <a:avLst/>
            <a:gdLst/>
            <a:ahLst/>
            <a:cxnLst/>
            <a:rect l="l" t="t" r="r" b="b"/>
            <a:pathLst>
              <a:path w="412458" h="474586">
                <a:moveTo>
                  <a:pt x="0" y="0"/>
                </a:moveTo>
                <a:lnTo>
                  <a:pt x="412458" y="0"/>
                </a:lnTo>
                <a:lnTo>
                  <a:pt x="412458" y="474586"/>
                </a:lnTo>
                <a:lnTo>
                  <a:pt x="0" y="474586"/>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a:ln cap="sq">
            <a:noFill/>
            <a:prstDash val="solid"/>
            <a:miter/>
          </a:ln>
        </p:spPr>
      </p:sp>
      <p:sp>
        <p:nvSpPr>
          <p:cNvPr id="14" name="Freeform 14"/>
          <p:cNvSpPr/>
          <p:nvPr/>
        </p:nvSpPr>
        <p:spPr>
          <a:xfrm>
            <a:off x="17151420" y="2856385"/>
            <a:ext cx="412458" cy="474586"/>
          </a:xfrm>
          <a:custGeom>
            <a:avLst/>
            <a:gdLst/>
            <a:ahLst/>
            <a:cxnLst/>
            <a:rect l="l" t="t" r="r" b="b"/>
            <a:pathLst>
              <a:path w="412458" h="474586">
                <a:moveTo>
                  <a:pt x="0" y="0"/>
                </a:moveTo>
                <a:lnTo>
                  <a:pt x="412459" y="0"/>
                </a:lnTo>
                <a:lnTo>
                  <a:pt x="412459" y="474586"/>
                </a:lnTo>
                <a:lnTo>
                  <a:pt x="0" y="474586"/>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a:ln cap="sq">
            <a:noFill/>
            <a:prstDash val="solid"/>
            <a:miter/>
          </a:ln>
        </p:spPr>
      </p:sp>
      <p:sp>
        <p:nvSpPr>
          <p:cNvPr id="15" name="Freeform 15"/>
          <p:cNvSpPr/>
          <p:nvPr/>
        </p:nvSpPr>
        <p:spPr>
          <a:xfrm>
            <a:off x="5775110" y="9465671"/>
            <a:ext cx="412458" cy="474586"/>
          </a:xfrm>
          <a:custGeom>
            <a:avLst/>
            <a:gdLst/>
            <a:ahLst/>
            <a:cxnLst/>
            <a:rect l="l" t="t" r="r" b="b"/>
            <a:pathLst>
              <a:path w="412458" h="474586">
                <a:moveTo>
                  <a:pt x="0" y="0"/>
                </a:moveTo>
                <a:lnTo>
                  <a:pt x="412459" y="0"/>
                </a:lnTo>
                <a:lnTo>
                  <a:pt x="412459" y="474586"/>
                </a:lnTo>
                <a:lnTo>
                  <a:pt x="0" y="474586"/>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a:ln cap="sq">
            <a:noFill/>
            <a:prstDash val="solid"/>
            <a:miter/>
          </a:ln>
        </p:spPr>
      </p:sp>
      <p:graphicFrame>
        <p:nvGraphicFramePr>
          <p:cNvPr id="16" name="Object 16"/>
          <p:cNvGraphicFramePr/>
          <p:nvPr/>
        </p:nvGraphicFramePr>
        <p:xfrm>
          <a:off x="8201025" y="4829175"/>
          <a:ext cx="1885950" cy="628650"/>
        </p:xfrm>
        <a:graphic>
          <a:graphicData uri="http://schemas.openxmlformats.org/presentationml/2006/ole">
            <mc:AlternateContent xmlns:mc="http://schemas.openxmlformats.org/markup-compatibility/2006">
              <mc:Choice xmlns:v="urn:schemas-microsoft-com:vml" Requires="v">
                <p:oleObj spid="_x0000_s1033" name="Worksheet" r:id="rId7" imgW="2260600" imgH="1003300" progId="Excel.Sheet.12">
                  <p:embed/>
                </p:oleObj>
              </mc:Choice>
              <mc:Fallback>
                <p:oleObj name="Worksheet" r:id="rId7" imgW="2260600" imgH="1003300" progId="Excel.Sheet.12">
                  <p:embed/>
                  <p:pic>
                    <p:nvPicPr>
                      <p:cNvPr id="0" name=""/>
                      <p:cNvPicPr/>
                      <p:nvPr/>
                    </p:nvPicPr>
                    <p:blipFill>
                      <a:blip r:embed="rId8"/>
                      <a:stretch>
                        <a:fillRect/>
                      </a:stretch>
                    </p:blipFill>
                    <p:spPr>
                      <a:xfrm>
                        <a:off x="8201025" y="4829175"/>
                        <a:ext cx="1885950" cy="628650"/>
                      </a:xfrm>
                      <a:prstGeom prst="rect">
                        <a:avLst/>
                      </a:prstGeom>
                    </p:spPr>
                  </p:pic>
                </p:oleObj>
              </mc:Fallback>
            </mc:AlternateContent>
          </a:graphicData>
        </a:graphic>
      </p:graphicFrame>
      <p:sp>
        <p:nvSpPr>
          <p:cNvPr id="17" name="Freeform 17"/>
          <p:cNvSpPr/>
          <p:nvPr/>
        </p:nvSpPr>
        <p:spPr>
          <a:xfrm>
            <a:off x="6355450" y="2241835"/>
            <a:ext cx="11753373" cy="5862528"/>
          </a:xfrm>
          <a:custGeom>
            <a:avLst/>
            <a:gdLst/>
            <a:ahLst/>
            <a:cxnLst/>
            <a:rect l="l" t="t" r="r" b="b"/>
            <a:pathLst>
              <a:path w="11753373" h="5862528">
                <a:moveTo>
                  <a:pt x="0" y="0"/>
                </a:moveTo>
                <a:lnTo>
                  <a:pt x="11753372" y="0"/>
                </a:lnTo>
                <a:lnTo>
                  <a:pt x="11753372" y="5862528"/>
                </a:lnTo>
                <a:lnTo>
                  <a:pt x="0" y="5862528"/>
                </a:lnTo>
                <a:lnTo>
                  <a:pt x="0" y="0"/>
                </a:lnTo>
                <a:close/>
              </a:path>
            </a:pathLst>
          </a:custGeom>
          <a:blipFill>
            <a:blip r:embed="rId9"/>
            <a:stretch>
              <a:fillRect t="-2000" b="-2000"/>
            </a:stretch>
          </a:blipFill>
        </p:spPr>
      </p:sp>
      <p:sp>
        <p:nvSpPr>
          <p:cNvPr id="18" name="TextBox 18"/>
          <p:cNvSpPr txBox="1"/>
          <p:nvPr/>
        </p:nvSpPr>
        <p:spPr>
          <a:xfrm>
            <a:off x="2305317" y="316515"/>
            <a:ext cx="8517898" cy="1925320"/>
          </a:xfrm>
          <a:prstGeom prst="rect">
            <a:avLst/>
          </a:prstGeom>
        </p:spPr>
        <p:txBody>
          <a:bodyPr lIns="0" tIns="0" rIns="0" bIns="0" rtlCol="0" anchor="t">
            <a:spAutoFit/>
          </a:bodyPr>
          <a:lstStyle/>
          <a:p>
            <a:pPr algn="l">
              <a:lnSpc>
                <a:spcPts val="6800"/>
              </a:lnSpc>
            </a:pPr>
            <a:r>
              <a:rPr lang="en-US" sz="6800" spc="-374">
                <a:solidFill>
                  <a:srgbClr val="2E2623"/>
                </a:solidFill>
                <a:latin typeface="Heading Now 71-78"/>
                <a:ea typeface="Heading Now 71-78"/>
                <a:cs typeface="Heading Now 71-78"/>
                <a:sym typeface="Heading Now 71-78"/>
              </a:rPr>
              <a:t>USAGE TRENDS BY PROVINCE</a:t>
            </a:r>
          </a:p>
        </p:txBody>
      </p:sp>
      <p:sp>
        <p:nvSpPr>
          <p:cNvPr id="19" name="TextBox 19"/>
          <p:cNvSpPr txBox="1"/>
          <p:nvPr/>
        </p:nvSpPr>
        <p:spPr>
          <a:xfrm rot="5400000">
            <a:off x="15298728" y="6551374"/>
            <a:ext cx="4558876" cy="297180"/>
          </a:xfrm>
          <a:prstGeom prst="rect">
            <a:avLst/>
          </a:prstGeom>
        </p:spPr>
        <p:txBody>
          <a:bodyPr lIns="0" tIns="0" rIns="0" bIns="0" rtlCol="0" anchor="t">
            <a:spAutoFit/>
          </a:bodyPr>
          <a:lstStyle/>
          <a:p>
            <a:pPr algn="r">
              <a:lnSpc>
                <a:spcPts val="2520"/>
              </a:lnSpc>
            </a:pPr>
            <a:r>
              <a:rPr lang="en-US" sz="1800" i="1" spc="392">
                <a:solidFill>
                  <a:srgbClr val="2E2623"/>
                </a:solidFill>
                <a:latin typeface="TT Firs Neue Italics"/>
                <a:ea typeface="TT Firs Neue Italics"/>
                <a:cs typeface="TT Firs Neue Italics"/>
                <a:sym typeface="TT Firs Neue Italics"/>
              </a:rPr>
              <a:t>BRIGHT TV Data</a:t>
            </a:r>
          </a:p>
        </p:txBody>
      </p:sp>
      <p:sp>
        <p:nvSpPr>
          <p:cNvPr id="20" name="TextBox 20"/>
          <p:cNvSpPr txBox="1"/>
          <p:nvPr/>
        </p:nvSpPr>
        <p:spPr>
          <a:xfrm>
            <a:off x="166250" y="3378596"/>
            <a:ext cx="6187569" cy="2397530"/>
          </a:xfrm>
          <a:prstGeom prst="rect">
            <a:avLst/>
          </a:prstGeom>
        </p:spPr>
        <p:txBody>
          <a:bodyPr lIns="0" tIns="0" rIns="0" bIns="0" rtlCol="0" anchor="t">
            <a:spAutoFit/>
          </a:bodyPr>
          <a:lstStyle/>
          <a:p>
            <a:pPr marL="517932" lvl="1" indent="-258966" algn="l">
              <a:lnSpc>
                <a:spcPts val="2398"/>
              </a:lnSpc>
              <a:buFont typeface="Arial"/>
              <a:buChar char="•"/>
            </a:pPr>
            <a:r>
              <a:rPr lang="en-US" sz="2398" spc="-131" dirty="0">
                <a:solidFill>
                  <a:srgbClr val="2E2623"/>
                </a:solidFill>
                <a:latin typeface="Atkinson Hyperlegible"/>
                <a:ea typeface="Atkinson Hyperlegible"/>
                <a:cs typeface="Atkinson Hyperlegible"/>
                <a:sym typeface="Atkinson Hyperlegible"/>
              </a:rPr>
              <a:t>Bright TV has a totals  of </a:t>
            </a:r>
            <a:r>
              <a:rPr lang="en-US" sz="2398" b="1" spc="-131" dirty="0">
                <a:solidFill>
                  <a:srgbClr val="2E2623"/>
                </a:solidFill>
                <a:latin typeface="Atkinson Hyperlegible Bold"/>
                <a:ea typeface="Atkinson Hyperlegible Bold"/>
                <a:cs typeface="Atkinson Hyperlegible Bold"/>
                <a:sym typeface="Atkinson Hyperlegible Bold"/>
              </a:rPr>
              <a:t>(10000)</a:t>
            </a:r>
            <a:r>
              <a:rPr lang="en-US" sz="2398" spc="-131" dirty="0">
                <a:solidFill>
                  <a:srgbClr val="2E2623"/>
                </a:solidFill>
                <a:latin typeface="Atkinson Hyperlegible"/>
                <a:ea typeface="Atkinson Hyperlegible"/>
                <a:cs typeface="Atkinson Hyperlegible"/>
                <a:sym typeface="Atkinson Hyperlegible"/>
              </a:rPr>
              <a:t> viewers registered with 36.5% of viewers being in Gauteng as the highest.</a:t>
            </a:r>
          </a:p>
          <a:p>
            <a:pPr marL="517932" lvl="1" indent="-258966" algn="l">
              <a:lnSpc>
                <a:spcPts val="2398"/>
              </a:lnSpc>
              <a:buFont typeface="Arial"/>
              <a:buChar char="•"/>
            </a:pPr>
            <a:r>
              <a:rPr lang="en-US" sz="2398" spc="-131" dirty="0">
                <a:solidFill>
                  <a:srgbClr val="2E2623"/>
                </a:solidFill>
                <a:latin typeface="Atkinson Hyperlegible"/>
                <a:ea typeface="Atkinson Hyperlegible"/>
                <a:cs typeface="Atkinson Hyperlegible"/>
                <a:sym typeface="Atkinson Hyperlegible"/>
              </a:rPr>
              <a:t>2.65% of our viewers are logged on watching however they are not registered on the data base</a:t>
            </a:r>
          </a:p>
          <a:p>
            <a:pPr marL="517932" lvl="1" indent="-258966" algn="l">
              <a:lnSpc>
                <a:spcPts val="2398"/>
              </a:lnSpc>
              <a:buFont typeface="Arial"/>
              <a:buChar char="•"/>
            </a:pPr>
            <a:r>
              <a:rPr lang="en-US" sz="2398" spc="-131" dirty="0">
                <a:solidFill>
                  <a:srgbClr val="2E2623"/>
                </a:solidFill>
                <a:latin typeface="Atkinson Hyperlegible"/>
                <a:ea typeface="Atkinson Hyperlegible"/>
                <a:cs typeface="Atkinson Hyperlegible"/>
                <a:sym typeface="Atkinson Hyperlegible"/>
              </a:rPr>
              <a:t>The Northern Cape is our lowest performing province with 2.23% of viewership</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sp>
        <p:nvSpPr>
          <p:cNvPr id="2" name="AutoShape 2"/>
          <p:cNvSpPr/>
          <p:nvPr/>
        </p:nvSpPr>
        <p:spPr>
          <a:xfrm flipV="1">
            <a:off x="8481539" y="5681073"/>
            <a:ext cx="8011643" cy="0"/>
          </a:xfrm>
          <a:prstGeom prst="line">
            <a:avLst/>
          </a:prstGeom>
          <a:ln w="19050" cap="flat">
            <a:solidFill>
              <a:srgbClr val="4A2C21"/>
            </a:solidFill>
            <a:prstDash val="solid"/>
            <a:headEnd type="none" w="sm" len="sm"/>
            <a:tailEnd type="none" w="sm" len="sm"/>
          </a:ln>
        </p:spPr>
      </p:sp>
      <p:sp>
        <p:nvSpPr>
          <p:cNvPr id="3" name="AutoShape 3"/>
          <p:cNvSpPr/>
          <p:nvPr/>
        </p:nvSpPr>
        <p:spPr>
          <a:xfrm>
            <a:off x="8481539" y="895378"/>
            <a:ext cx="0" cy="8215297"/>
          </a:xfrm>
          <a:prstGeom prst="line">
            <a:avLst/>
          </a:prstGeom>
          <a:ln w="19050" cap="flat">
            <a:solidFill>
              <a:srgbClr val="4A2C21"/>
            </a:solidFill>
            <a:prstDash val="solid"/>
            <a:headEnd type="none" w="sm" len="sm"/>
            <a:tailEnd type="none" w="sm" len="sm"/>
          </a:ln>
        </p:spPr>
      </p:sp>
      <p:sp>
        <p:nvSpPr>
          <p:cNvPr id="4" name="AutoShape 4"/>
          <p:cNvSpPr/>
          <p:nvPr/>
        </p:nvSpPr>
        <p:spPr>
          <a:xfrm flipV="1">
            <a:off x="1028700" y="689332"/>
            <a:ext cx="489623" cy="0"/>
          </a:xfrm>
          <a:prstGeom prst="line">
            <a:avLst/>
          </a:prstGeom>
          <a:ln w="28575" cap="flat">
            <a:solidFill>
              <a:srgbClr val="4A2C21"/>
            </a:solidFill>
            <a:prstDash val="solid"/>
            <a:headEnd type="none" w="sm" len="sm"/>
            <a:tailEnd type="none" w="sm" len="sm"/>
          </a:ln>
        </p:spPr>
      </p:sp>
      <p:sp>
        <p:nvSpPr>
          <p:cNvPr id="5" name="AutoShape 5"/>
          <p:cNvSpPr/>
          <p:nvPr/>
        </p:nvSpPr>
        <p:spPr>
          <a:xfrm flipV="1">
            <a:off x="1028700" y="790603"/>
            <a:ext cx="489623" cy="0"/>
          </a:xfrm>
          <a:prstGeom prst="line">
            <a:avLst/>
          </a:prstGeom>
          <a:ln w="28575" cap="flat">
            <a:solidFill>
              <a:srgbClr val="4A2C21"/>
            </a:solidFill>
            <a:prstDash val="solid"/>
            <a:headEnd type="none" w="sm" len="sm"/>
            <a:tailEnd type="none" w="sm" len="sm"/>
          </a:ln>
        </p:spPr>
      </p:sp>
      <p:sp>
        <p:nvSpPr>
          <p:cNvPr id="6" name="AutoShape 6"/>
          <p:cNvSpPr/>
          <p:nvPr/>
        </p:nvSpPr>
        <p:spPr>
          <a:xfrm>
            <a:off x="1028700" y="895378"/>
            <a:ext cx="353706" cy="0"/>
          </a:xfrm>
          <a:prstGeom prst="line">
            <a:avLst/>
          </a:prstGeom>
          <a:ln w="28575" cap="flat">
            <a:solidFill>
              <a:srgbClr val="4A2C21"/>
            </a:solidFill>
            <a:prstDash val="solid"/>
            <a:headEnd type="none" w="sm" len="sm"/>
            <a:tailEnd type="none" w="sm" len="sm"/>
          </a:ln>
        </p:spPr>
      </p:sp>
      <p:sp>
        <p:nvSpPr>
          <p:cNvPr id="7" name="AutoShape 7"/>
          <p:cNvSpPr/>
          <p:nvPr/>
        </p:nvSpPr>
        <p:spPr>
          <a:xfrm flipH="1">
            <a:off x="17578622" y="9251148"/>
            <a:ext cx="0" cy="1252579"/>
          </a:xfrm>
          <a:prstGeom prst="line">
            <a:avLst/>
          </a:prstGeom>
          <a:ln w="19050" cap="flat">
            <a:solidFill>
              <a:srgbClr val="4A2C21"/>
            </a:solidFill>
            <a:prstDash val="solid"/>
            <a:headEnd type="none" w="sm" len="sm"/>
            <a:tailEnd type="none" w="sm" len="sm"/>
          </a:ln>
        </p:spPr>
      </p:sp>
      <p:sp>
        <p:nvSpPr>
          <p:cNvPr id="8" name="Freeform 8"/>
          <p:cNvSpPr/>
          <p:nvPr/>
        </p:nvSpPr>
        <p:spPr>
          <a:xfrm>
            <a:off x="1312094" y="9021007"/>
            <a:ext cx="412458" cy="474586"/>
          </a:xfrm>
          <a:custGeom>
            <a:avLst/>
            <a:gdLst/>
            <a:ahLst/>
            <a:cxnLst/>
            <a:rect l="l" t="t" r="r" b="b"/>
            <a:pathLst>
              <a:path w="412458" h="474586">
                <a:moveTo>
                  <a:pt x="0" y="0"/>
                </a:moveTo>
                <a:lnTo>
                  <a:pt x="412458" y="0"/>
                </a:lnTo>
                <a:lnTo>
                  <a:pt x="412458" y="474586"/>
                </a:lnTo>
                <a:lnTo>
                  <a:pt x="0" y="47458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9" name="Freeform 9"/>
          <p:cNvSpPr/>
          <p:nvPr/>
        </p:nvSpPr>
        <p:spPr>
          <a:xfrm>
            <a:off x="17151420" y="3712258"/>
            <a:ext cx="412458" cy="474586"/>
          </a:xfrm>
          <a:custGeom>
            <a:avLst/>
            <a:gdLst/>
            <a:ahLst/>
            <a:cxnLst/>
            <a:rect l="l" t="t" r="r" b="b"/>
            <a:pathLst>
              <a:path w="412458" h="474586">
                <a:moveTo>
                  <a:pt x="0" y="0"/>
                </a:moveTo>
                <a:lnTo>
                  <a:pt x="412459" y="0"/>
                </a:lnTo>
                <a:lnTo>
                  <a:pt x="412459" y="474586"/>
                </a:lnTo>
                <a:lnTo>
                  <a:pt x="0" y="47458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10" name="Freeform 10"/>
          <p:cNvSpPr/>
          <p:nvPr/>
        </p:nvSpPr>
        <p:spPr>
          <a:xfrm>
            <a:off x="7254593" y="1894902"/>
            <a:ext cx="11102639" cy="6453409"/>
          </a:xfrm>
          <a:custGeom>
            <a:avLst/>
            <a:gdLst/>
            <a:ahLst/>
            <a:cxnLst/>
            <a:rect l="l" t="t" r="r" b="b"/>
            <a:pathLst>
              <a:path w="11102639" h="6453409">
                <a:moveTo>
                  <a:pt x="0" y="0"/>
                </a:moveTo>
                <a:lnTo>
                  <a:pt x="11102639" y="0"/>
                </a:lnTo>
                <a:lnTo>
                  <a:pt x="11102639" y="6453409"/>
                </a:lnTo>
                <a:lnTo>
                  <a:pt x="0" y="6453409"/>
                </a:lnTo>
                <a:lnTo>
                  <a:pt x="0" y="0"/>
                </a:lnTo>
                <a:close/>
              </a:path>
            </a:pathLst>
          </a:custGeom>
          <a:blipFill>
            <a:blip r:embed="rId4"/>
            <a:stretch>
              <a:fillRect/>
            </a:stretch>
          </a:blipFill>
        </p:spPr>
      </p:sp>
      <p:sp>
        <p:nvSpPr>
          <p:cNvPr id="11" name="TextBox 11"/>
          <p:cNvSpPr txBox="1"/>
          <p:nvPr/>
        </p:nvSpPr>
        <p:spPr>
          <a:xfrm>
            <a:off x="3220800" y="605851"/>
            <a:ext cx="9585112" cy="1289051"/>
          </a:xfrm>
          <a:prstGeom prst="rect">
            <a:avLst/>
          </a:prstGeom>
        </p:spPr>
        <p:txBody>
          <a:bodyPr lIns="0" tIns="0" rIns="0" bIns="0" rtlCol="0" anchor="t">
            <a:spAutoFit/>
          </a:bodyPr>
          <a:lstStyle/>
          <a:p>
            <a:pPr algn="l">
              <a:lnSpc>
                <a:spcPts val="5000"/>
              </a:lnSpc>
            </a:pPr>
            <a:r>
              <a:rPr lang="en-US" sz="5000" spc="-275">
                <a:solidFill>
                  <a:srgbClr val="2E2623"/>
                </a:solidFill>
                <a:latin typeface="Atkinson Hyperlegible"/>
                <a:ea typeface="Atkinson Hyperlegible"/>
                <a:cs typeface="Atkinson Hyperlegible"/>
                <a:sym typeface="Atkinson Hyperlegible"/>
              </a:rPr>
              <a:t>Insights and Trends By Day Name And Month</a:t>
            </a:r>
          </a:p>
        </p:txBody>
      </p:sp>
      <p:sp>
        <p:nvSpPr>
          <p:cNvPr id="12" name="TextBox 12"/>
          <p:cNvSpPr txBox="1"/>
          <p:nvPr/>
        </p:nvSpPr>
        <p:spPr>
          <a:xfrm rot="5400000">
            <a:off x="15298728" y="6551374"/>
            <a:ext cx="4558876" cy="297180"/>
          </a:xfrm>
          <a:prstGeom prst="rect">
            <a:avLst/>
          </a:prstGeom>
        </p:spPr>
        <p:txBody>
          <a:bodyPr lIns="0" tIns="0" rIns="0" bIns="0" rtlCol="0" anchor="t">
            <a:spAutoFit/>
          </a:bodyPr>
          <a:lstStyle/>
          <a:p>
            <a:pPr algn="r">
              <a:lnSpc>
                <a:spcPts val="2520"/>
              </a:lnSpc>
            </a:pPr>
            <a:r>
              <a:rPr lang="en-US" sz="1800" i="1" spc="392">
                <a:solidFill>
                  <a:srgbClr val="2E2623"/>
                </a:solidFill>
                <a:latin typeface="TT Firs Neue Italics"/>
                <a:ea typeface="TT Firs Neue Italics"/>
                <a:cs typeface="TT Firs Neue Italics"/>
                <a:sym typeface="TT Firs Neue Italics"/>
              </a:rPr>
              <a:t>BRIGHT TV DATA </a:t>
            </a:r>
          </a:p>
        </p:txBody>
      </p:sp>
      <p:sp>
        <p:nvSpPr>
          <p:cNvPr id="13" name="TextBox 13"/>
          <p:cNvSpPr txBox="1"/>
          <p:nvPr/>
        </p:nvSpPr>
        <p:spPr>
          <a:xfrm>
            <a:off x="957022" y="2804430"/>
            <a:ext cx="6297571" cy="4369438"/>
          </a:xfrm>
          <a:prstGeom prst="rect">
            <a:avLst/>
          </a:prstGeom>
        </p:spPr>
        <p:txBody>
          <a:bodyPr lIns="0" tIns="0" rIns="0" bIns="0" rtlCol="0" anchor="t">
            <a:spAutoFit/>
          </a:bodyPr>
          <a:lstStyle/>
          <a:p>
            <a:pPr marL="626132" lvl="1" indent="-313066" algn="l">
              <a:lnSpc>
                <a:spcPts val="2900"/>
              </a:lnSpc>
              <a:buFont typeface="Arial"/>
              <a:buChar char="•"/>
            </a:pPr>
            <a:r>
              <a:rPr lang="en-US" sz="2900" spc="-159" dirty="0">
                <a:solidFill>
                  <a:srgbClr val="2E2623"/>
                </a:solidFill>
                <a:latin typeface="Atkinson Hyperlegible"/>
                <a:ea typeface="Atkinson Hyperlegible"/>
                <a:cs typeface="Atkinson Hyperlegible"/>
                <a:sym typeface="Atkinson Hyperlegible"/>
              </a:rPr>
              <a:t>Over the past 3 months we can see that Wednesday’s and Fridays are the days with the most viewership across most channels.</a:t>
            </a:r>
          </a:p>
          <a:p>
            <a:pPr marL="626132" lvl="1" indent="-313066" algn="l">
              <a:lnSpc>
                <a:spcPts val="2900"/>
              </a:lnSpc>
              <a:buFont typeface="Arial"/>
              <a:buChar char="•"/>
            </a:pPr>
            <a:r>
              <a:rPr lang="en-US" sz="2900" spc="-159" dirty="0">
                <a:solidFill>
                  <a:srgbClr val="2E2623"/>
                </a:solidFill>
                <a:latin typeface="Atkinson Hyperlegible"/>
                <a:ea typeface="Atkinson Hyperlegible"/>
                <a:cs typeface="Atkinson Hyperlegible"/>
                <a:sym typeface="Atkinson Hyperlegible"/>
              </a:rPr>
              <a:t>The above insight suggest that March had a sharp improvement in viewers thus improving the 7 days listed in the graph.</a:t>
            </a:r>
          </a:p>
          <a:p>
            <a:pPr marL="626132" lvl="1" indent="-313066" algn="l">
              <a:lnSpc>
                <a:spcPts val="2900"/>
              </a:lnSpc>
              <a:buFont typeface="Arial"/>
              <a:buChar char="•"/>
            </a:pPr>
            <a:r>
              <a:rPr lang="en-US" sz="2900" spc="-159" dirty="0">
                <a:solidFill>
                  <a:srgbClr val="2E2623"/>
                </a:solidFill>
                <a:latin typeface="Atkinson Hyperlegible"/>
                <a:ea typeface="Atkinson Hyperlegible"/>
                <a:cs typeface="Atkinson Hyperlegible"/>
                <a:sym typeface="Atkinson Hyperlegible"/>
              </a:rPr>
              <a:t>As Bright we will need to improve Sunday and Monday viewership numbers going forward as those days are least engaged with Viewership</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sp>
        <p:nvSpPr>
          <p:cNvPr id="2" name="AutoShape 2"/>
          <p:cNvSpPr/>
          <p:nvPr/>
        </p:nvSpPr>
        <p:spPr>
          <a:xfrm>
            <a:off x="10349466" y="-207366"/>
            <a:ext cx="0" cy="9458514"/>
          </a:xfrm>
          <a:prstGeom prst="line">
            <a:avLst/>
          </a:prstGeom>
          <a:ln w="19050" cap="flat">
            <a:solidFill>
              <a:srgbClr val="4A2C21"/>
            </a:solidFill>
            <a:prstDash val="solid"/>
            <a:headEnd type="none" w="sm" len="sm"/>
            <a:tailEnd type="none" w="sm" len="sm"/>
          </a:ln>
        </p:spPr>
      </p:sp>
      <p:sp>
        <p:nvSpPr>
          <p:cNvPr id="3" name="AutoShape 3"/>
          <p:cNvSpPr/>
          <p:nvPr/>
        </p:nvSpPr>
        <p:spPr>
          <a:xfrm flipV="1">
            <a:off x="1028700" y="689332"/>
            <a:ext cx="489623" cy="0"/>
          </a:xfrm>
          <a:prstGeom prst="line">
            <a:avLst/>
          </a:prstGeom>
          <a:ln w="28575" cap="flat">
            <a:solidFill>
              <a:srgbClr val="4A2C21"/>
            </a:solidFill>
            <a:prstDash val="solid"/>
            <a:headEnd type="none" w="sm" len="sm"/>
            <a:tailEnd type="none" w="sm" len="sm"/>
          </a:ln>
        </p:spPr>
      </p:sp>
      <p:sp>
        <p:nvSpPr>
          <p:cNvPr id="4" name="AutoShape 4"/>
          <p:cNvSpPr/>
          <p:nvPr/>
        </p:nvSpPr>
        <p:spPr>
          <a:xfrm flipV="1">
            <a:off x="1028700" y="790603"/>
            <a:ext cx="489623" cy="0"/>
          </a:xfrm>
          <a:prstGeom prst="line">
            <a:avLst/>
          </a:prstGeom>
          <a:ln w="28575" cap="flat">
            <a:solidFill>
              <a:srgbClr val="4A2C21"/>
            </a:solidFill>
            <a:prstDash val="solid"/>
            <a:headEnd type="none" w="sm" len="sm"/>
            <a:tailEnd type="none" w="sm" len="sm"/>
          </a:ln>
        </p:spPr>
      </p:sp>
      <p:sp>
        <p:nvSpPr>
          <p:cNvPr id="5" name="AutoShape 5"/>
          <p:cNvSpPr/>
          <p:nvPr/>
        </p:nvSpPr>
        <p:spPr>
          <a:xfrm>
            <a:off x="1028700" y="895378"/>
            <a:ext cx="353706" cy="0"/>
          </a:xfrm>
          <a:prstGeom prst="line">
            <a:avLst/>
          </a:prstGeom>
          <a:ln w="28575" cap="flat">
            <a:solidFill>
              <a:srgbClr val="4A2C21"/>
            </a:solidFill>
            <a:prstDash val="solid"/>
            <a:headEnd type="none" w="sm" len="sm"/>
            <a:tailEnd type="none" w="sm" len="sm"/>
          </a:ln>
        </p:spPr>
      </p:sp>
      <p:sp>
        <p:nvSpPr>
          <p:cNvPr id="6" name="AutoShape 6"/>
          <p:cNvSpPr/>
          <p:nvPr/>
        </p:nvSpPr>
        <p:spPr>
          <a:xfrm flipH="1">
            <a:off x="17578622" y="9251148"/>
            <a:ext cx="0" cy="1252579"/>
          </a:xfrm>
          <a:prstGeom prst="line">
            <a:avLst/>
          </a:prstGeom>
          <a:ln w="19050" cap="flat">
            <a:solidFill>
              <a:srgbClr val="4A2C21"/>
            </a:solidFill>
            <a:prstDash val="solid"/>
            <a:headEnd type="none" w="sm" len="sm"/>
            <a:tailEnd type="none" w="sm" len="sm"/>
          </a:ln>
        </p:spPr>
      </p:sp>
      <p:sp>
        <p:nvSpPr>
          <p:cNvPr id="7" name="Freeform 7"/>
          <p:cNvSpPr/>
          <p:nvPr/>
        </p:nvSpPr>
        <p:spPr>
          <a:xfrm>
            <a:off x="6757785" y="1491344"/>
            <a:ext cx="412458" cy="474586"/>
          </a:xfrm>
          <a:custGeom>
            <a:avLst/>
            <a:gdLst/>
            <a:ahLst/>
            <a:cxnLst/>
            <a:rect l="l" t="t" r="r" b="b"/>
            <a:pathLst>
              <a:path w="412458" h="474586">
                <a:moveTo>
                  <a:pt x="0" y="0"/>
                </a:moveTo>
                <a:lnTo>
                  <a:pt x="412459" y="0"/>
                </a:lnTo>
                <a:lnTo>
                  <a:pt x="412459" y="474586"/>
                </a:lnTo>
                <a:lnTo>
                  <a:pt x="0" y="47458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8" name="Freeform 8"/>
          <p:cNvSpPr/>
          <p:nvPr/>
        </p:nvSpPr>
        <p:spPr>
          <a:xfrm>
            <a:off x="16846842" y="3484790"/>
            <a:ext cx="412458" cy="474586"/>
          </a:xfrm>
          <a:custGeom>
            <a:avLst/>
            <a:gdLst/>
            <a:ahLst/>
            <a:cxnLst/>
            <a:rect l="l" t="t" r="r" b="b"/>
            <a:pathLst>
              <a:path w="412458" h="474586">
                <a:moveTo>
                  <a:pt x="0" y="0"/>
                </a:moveTo>
                <a:lnTo>
                  <a:pt x="412458" y="0"/>
                </a:lnTo>
                <a:lnTo>
                  <a:pt x="412458" y="474586"/>
                </a:lnTo>
                <a:lnTo>
                  <a:pt x="0" y="47458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9" name="Freeform 9"/>
          <p:cNvSpPr/>
          <p:nvPr/>
        </p:nvSpPr>
        <p:spPr>
          <a:xfrm>
            <a:off x="6757785" y="1728637"/>
            <a:ext cx="11146787" cy="8192889"/>
          </a:xfrm>
          <a:custGeom>
            <a:avLst/>
            <a:gdLst/>
            <a:ahLst/>
            <a:cxnLst/>
            <a:rect l="l" t="t" r="r" b="b"/>
            <a:pathLst>
              <a:path w="11146787" h="8192889">
                <a:moveTo>
                  <a:pt x="0" y="0"/>
                </a:moveTo>
                <a:lnTo>
                  <a:pt x="11146787" y="0"/>
                </a:lnTo>
                <a:lnTo>
                  <a:pt x="11146787" y="8192888"/>
                </a:lnTo>
                <a:lnTo>
                  <a:pt x="0" y="8192888"/>
                </a:lnTo>
                <a:lnTo>
                  <a:pt x="0" y="0"/>
                </a:lnTo>
                <a:close/>
              </a:path>
            </a:pathLst>
          </a:custGeom>
          <a:blipFill>
            <a:blip r:embed="rId4"/>
            <a:stretch>
              <a:fillRect/>
            </a:stretch>
          </a:blipFill>
        </p:spPr>
      </p:sp>
      <p:sp>
        <p:nvSpPr>
          <p:cNvPr id="10" name="TextBox 10"/>
          <p:cNvSpPr txBox="1"/>
          <p:nvPr/>
        </p:nvSpPr>
        <p:spPr>
          <a:xfrm>
            <a:off x="1822873" y="423077"/>
            <a:ext cx="11397874" cy="539752"/>
          </a:xfrm>
          <a:prstGeom prst="rect">
            <a:avLst/>
          </a:prstGeom>
        </p:spPr>
        <p:txBody>
          <a:bodyPr lIns="0" tIns="0" rIns="0" bIns="0" rtlCol="0" anchor="t">
            <a:spAutoFit/>
          </a:bodyPr>
          <a:lstStyle/>
          <a:p>
            <a:pPr algn="l">
              <a:lnSpc>
                <a:spcPts val="4000"/>
              </a:lnSpc>
            </a:pPr>
            <a:r>
              <a:rPr lang="en-US" sz="4000" spc="-220">
                <a:solidFill>
                  <a:srgbClr val="2E2623"/>
                </a:solidFill>
                <a:latin typeface="Atkinson Hyperlegible"/>
                <a:ea typeface="Atkinson Hyperlegible"/>
                <a:cs typeface="Atkinson Hyperlegible"/>
                <a:sym typeface="Atkinson Hyperlegible"/>
              </a:rPr>
              <a:t>Channel Viewership By Months </a:t>
            </a:r>
          </a:p>
        </p:txBody>
      </p:sp>
      <p:sp>
        <p:nvSpPr>
          <p:cNvPr id="11" name="TextBox 11"/>
          <p:cNvSpPr txBox="1"/>
          <p:nvPr/>
        </p:nvSpPr>
        <p:spPr>
          <a:xfrm rot="5400000">
            <a:off x="15298728" y="6551374"/>
            <a:ext cx="4558876" cy="297180"/>
          </a:xfrm>
          <a:prstGeom prst="rect">
            <a:avLst/>
          </a:prstGeom>
        </p:spPr>
        <p:txBody>
          <a:bodyPr lIns="0" tIns="0" rIns="0" bIns="0" rtlCol="0" anchor="t">
            <a:spAutoFit/>
          </a:bodyPr>
          <a:lstStyle/>
          <a:p>
            <a:pPr algn="r">
              <a:lnSpc>
                <a:spcPts val="2520"/>
              </a:lnSpc>
            </a:pPr>
            <a:r>
              <a:rPr lang="en-US" sz="1800" i="1" spc="392">
                <a:solidFill>
                  <a:srgbClr val="2E2623"/>
                </a:solidFill>
                <a:latin typeface="TT Firs Neue Italics"/>
                <a:ea typeface="TT Firs Neue Italics"/>
                <a:cs typeface="TT Firs Neue Italics"/>
                <a:sym typeface="TT Firs Neue Italics"/>
              </a:rPr>
              <a:t>BRIGHT TV DATA</a:t>
            </a:r>
          </a:p>
        </p:txBody>
      </p:sp>
      <p:sp>
        <p:nvSpPr>
          <p:cNvPr id="12" name="TextBox 12"/>
          <p:cNvSpPr txBox="1"/>
          <p:nvPr/>
        </p:nvSpPr>
        <p:spPr>
          <a:xfrm>
            <a:off x="208868" y="2194530"/>
            <a:ext cx="6548917" cy="4957448"/>
          </a:xfrm>
          <a:prstGeom prst="rect">
            <a:avLst/>
          </a:prstGeom>
        </p:spPr>
        <p:txBody>
          <a:bodyPr lIns="0" tIns="0" rIns="0" bIns="0" rtlCol="0" anchor="t">
            <a:spAutoFit/>
          </a:bodyPr>
          <a:lstStyle/>
          <a:p>
            <a:pPr marL="604542" lvl="1" indent="-302271" algn="l">
              <a:lnSpc>
                <a:spcPts val="2800"/>
              </a:lnSpc>
              <a:buFont typeface="Arial"/>
              <a:buChar char="•"/>
            </a:pPr>
            <a:r>
              <a:rPr lang="en-US" sz="2800" spc="-154" dirty="0">
                <a:solidFill>
                  <a:srgbClr val="2E2623"/>
                </a:solidFill>
                <a:latin typeface="Atkinson Hyperlegible"/>
                <a:ea typeface="Atkinson Hyperlegible"/>
                <a:cs typeface="Atkinson Hyperlegible"/>
                <a:sym typeface="Atkinson Hyperlegible"/>
              </a:rPr>
              <a:t>Sports channel such as ICC Cricket World Cup, </a:t>
            </a:r>
            <a:r>
              <a:rPr lang="en-US" sz="2800" spc="-154" dirty="0" err="1">
                <a:solidFill>
                  <a:srgbClr val="2E2623"/>
                </a:solidFill>
                <a:latin typeface="Atkinson Hyperlegible"/>
                <a:ea typeface="Atkinson Hyperlegible"/>
                <a:cs typeface="Atkinson Hyperlegible"/>
                <a:sym typeface="Atkinson Hyperlegible"/>
              </a:rPr>
              <a:t>Supersports</a:t>
            </a:r>
            <a:r>
              <a:rPr lang="en-US" sz="2800" spc="-154" dirty="0">
                <a:solidFill>
                  <a:srgbClr val="2E2623"/>
                </a:solidFill>
                <a:latin typeface="Atkinson Hyperlegible"/>
                <a:ea typeface="Atkinson Hyperlegible"/>
                <a:cs typeface="Atkinson Hyperlegible"/>
                <a:sym typeface="Atkinson Hyperlegible"/>
              </a:rPr>
              <a:t> Live Events and Blitz are leading the viewership by channel over 3 months period </a:t>
            </a:r>
          </a:p>
          <a:p>
            <a:pPr marL="604542" lvl="1" indent="-302271" algn="l">
              <a:lnSpc>
                <a:spcPts val="2800"/>
              </a:lnSpc>
              <a:buFont typeface="Arial"/>
              <a:buChar char="•"/>
            </a:pPr>
            <a:r>
              <a:rPr lang="en-US" sz="2800" spc="-154" dirty="0">
                <a:solidFill>
                  <a:srgbClr val="2E2623"/>
                </a:solidFill>
                <a:latin typeface="Atkinson Hyperlegible"/>
                <a:ea typeface="Atkinson Hyperlegible"/>
                <a:cs typeface="Atkinson Hyperlegible"/>
                <a:sym typeface="Atkinson Hyperlegible"/>
              </a:rPr>
              <a:t>Entertainment Channels such as Trace TV, Channel O Cartoon Network  Africa Magic have had a reasonable increase in viewers over the same period. </a:t>
            </a:r>
          </a:p>
          <a:p>
            <a:pPr marL="604542" lvl="1" indent="-302271" algn="l">
              <a:lnSpc>
                <a:spcPts val="2800"/>
              </a:lnSpc>
              <a:buFont typeface="Arial"/>
              <a:buChar char="•"/>
            </a:pPr>
            <a:r>
              <a:rPr lang="en-US" sz="2800" spc="-154" dirty="0">
                <a:solidFill>
                  <a:srgbClr val="2E2623"/>
                </a:solidFill>
                <a:latin typeface="Atkinson Hyperlegible"/>
                <a:ea typeface="Atkinson Hyperlegible"/>
                <a:cs typeface="Atkinson Hyperlegible"/>
                <a:sym typeface="Atkinson Hyperlegible"/>
              </a:rPr>
              <a:t>While in the same period Channels such as </a:t>
            </a:r>
            <a:r>
              <a:rPr lang="en-US" sz="2800" spc="-154" dirty="0" err="1">
                <a:solidFill>
                  <a:srgbClr val="2E2623"/>
                </a:solidFill>
                <a:latin typeface="Atkinson Hyperlegible"/>
                <a:ea typeface="Atkinson Hyperlegible"/>
                <a:cs typeface="Atkinson Hyperlegible"/>
                <a:sym typeface="Atkinson Hyperlegible"/>
              </a:rPr>
              <a:t>Kyknet</a:t>
            </a:r>
            <a:r>
              <a:rPr lang="en-US" sz="2800" spc="-154" dirty="0">
                <a:solidFill>
                  <a:srgbClr val="2E2623"/>
                </a:solidFill>
                <a:latin typeface="Atkinson Hyperlegible"/>
                <a:ea typeface="Atkinson Hyperlegible"/>
                <a:cs typeface="Atkinson Hyperlegible"/>
                <a:sym typeface="Atkinson Hyperlegible"/>
              </a:rPr>
              <a:t>, </a:t>
            </a:r>
            <a:r>
              <a:rPr lang="en-US" sz="2800" spc="-154" dirty="0" err="1">
                <a:solidFill>
                  <a:srgbClr val="2E2623"/>
                </a:solidFill>
                <a:latin typeface="Atkinson Hyperlegible"/>
                <a:ea typeface="Atkinson Hyperlegible"/>
                <a:cs typeface="Atkinson Hyperlegible"/>
                <a:sym typeface="Atkinson Hyperlegible"/>
              </a:rPr>
              <a:t>Dstv</a:t>
            </a:r>
            <a:r>
              <a:rPr lang="en-US" sz="2800" spc="-154" dirty="0">
                <a:solidFill>
                  <a:srgbClr val="2E2623"/>
                </a:solidFill>
                <a:latin typeface="Atkinson Hyperlegible"/>
                <a:ea typeface="Atkinson Hyperlegible"/>
                <a:cs typeface="Atkinson Hyperlegible"/>
                <a:sym typeface="Atkinson Hyperlegible"/>
              </a:rPr>
              <a:t> Events 1, MK have had indifferent numbers on the decline which needs to be addressed</a:t>
            </a:r>
          </a:p>
          <a:p>
            <a:pPr algn="l">
              <a:lnSpc>
                <a:spcPts val="2800"/>
              </a:lnSpc>
            </a:pPr>
            <a:endParaRPr lang="en-US" sz="2800" spc="-154" dirty="0">
              <a:solidFill>
                <a:srgbClr val="2E2623"/>
              </a:solidFill>
              <a:latin typeface="Atkinson Hyperlegible"/>
              <a:ea typeface="Atkinson Hyperlegible"/>
              <a:cs typeface="Atkinson Hyperlegible"/>
              <a:sym typeface="Atkinson Hyperlegible"/>
            </a:endParaRPr>
          </a:p>
          <a:p>
            <a:pPr algn="l">
              <a:lnSpc>
                <a:spcPts val="2800"/>
              </a:lnSpc>
            </a:pPr>
            <a:endParaRPr lang="en-US" sz="2800" spc="-154" dirty="0">
              <a:solidFill>
                <a:srgbClr val="2E2623"/>
              </a:solidFill>
              <a:latin typeface="Atkinson Hyperlegible"/>
              <a:ea typeface="Atkinson Hyperlegible"/>
              <a:cs typeface="Atkinson Hyperlegible"/>
              <a:sym typeface="Atkinson Hyperlegible"/>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1890472" y="1035852"/>
            <a:ext cx="0" cy="8215297"/>
          </a:xfrm>
          <a:prstGeom prst="line">
            <a:avLst/>
          </a:prstGeom>
          <a:ln w="19050" cap="flat">
            <a:solidFill>
              <a:srgbClr val="4A2C21"/>
            </a:solidFill>
            <a:prstDash val="solid"/>
            <a:headEnd type="none" w="sm" len="sm"/>
            <a:tailEnd type="none" w="sm" len="sm"/>
          </a:ln>
        </p:spPr>
      </p:sp>
      <p:sp>
        <p:nvSpPr>
          <p:cNvPr id="3" name="AutoShape 3"/>
          <p:cNvSpPr/>
          <p:nvPr/>
        </p:nvSpPr>
        <p:spPr>
          <a:xfrm flipV="1">
            <a:off x="1028700" y="689332"/>
            <a:ext cx="489623" cy="0"/>
          </a:xfrm>
          <a:prstGeom prst="line">
            <a:avLst/>
          </a:prstGeom>
          <a:ln w="28575" cap="flat">
            <a:solidFill>
              <a:srgbClr val="4A2C21"/>
            </a:solidFill>
            <a:prstDash val="solid"/>
            <a:headEnd type="none" w="sm" len="sm"/>
            <a:tailEnd type="none" w="sm" len="sm"/>
          </a:ln>
        </p:spPr>
      </p:sp>
      <p:sp>
        <p:nvSpPr>
          <p:cNvPr id="4" name="AutoShape 4"/>
          <p:cNvSpPr/>
          <p:nvPr/>
        </p:nvSpPr>
        <p:spPr>
          <a:xfrm flipV="1">
            <a:off x="1028700" y="790603"/>
            <a:ext cx="489623" cy="0"/>
          </a:xfrm>
          <a:prstGeom prst="line">
            <a:avLst/>
          </a:prstGeom>
          <a:ln w="28575" cap="flat">
            <a:solidFill>
              <a:srgbClr val="4A2C21"/>
            </a:solidFill>
            <a:prstDash val="solid"/>
            <a:headEnd type="none" w="sm" len="sm"/>
            <a:tailEnd type="none" w="sm" len="sm"/>
          </a:ln>
        </p:spPr>
      </p:sp>
      <p:sp>
        <p:nvSpPr>
          <p:cNvPr id="5" name="AutoShape 5"/>
          <p:cNvSpPr/>
          <p:nvPr/>
        </p:nvSpPr>
        <p:spPr>
          <a:xfrm>
            <a:off x="1028700" y="895378"/>
            <a:ext cx="353706" cy="0"/>
          </a:xfrm>
          <a:prstGeom prst="line">
            <a:avLst/>
          </a:prstGeom>
          <a:ln w="28575" cap="flat">
            <a:solidFill>
              <a:srgbClr val="4A2C21"/>
            </a:solidFill>
            <a:prstDash val="solid"/>
            <a:headEnd type="none" w="sm" len="sm"/>
            <a:tailEnd type="none" w="sm" len="sm"/>
          </a:ln>
        </p:spPr>
      </p:sp>
      <p:sp>
        <p:nvSpPr>
          <p:cNvPr id="6" name="AutoShape 6"/>
          <p:cNvSpPr/>
          <p:nvPr/>
        </p:nvSpPr>
        <p:spPr>
          <a:xfrm flipH="1">
            <a:off x="17578622" y="9251148"/>
            <a:ext cx="0" cy="1252579"/>
          </a:xfrm>
          <a:prstGeom prst="line">
            <a:avLst/>
          </a:prstGeom>
          <a:ln w="19050" cap="flat">
            <a:solidFill>
              <a:srgbClr val="4A2C21"/>
            </a:solidFill>
            <a:prstDash val="solid"/>
            <a:headEnd type="none" w="sm" len="sm"/>
            <a:tailEnd type="none" w="sm" len="sm"/>
          </a:ln>
        </p:spPr>
      </p:sp>
      <p:sp>
        <p:nvSpPr>
          <p:cNvPr id="7" name="Freeform 7"/>
          <p:cNvSpPr/>
          <p:nvPr/>
        </p:nvSpPr>
        <p:spPr>
          <a:xfrm>
            <a:off x="5345902" y="9251148"/>
            <a:ext cx="412458" cy="474586"/>
          </a:xfrm>
          <a:custGeom>
            <a:avLst/>
            <a:gdLst/>
            <a:ahLst/>
            <a:cxnLst/>
            <a:rect l="l" t="t" r="r" b="b"/>
            <a:pathLst>
              <a:path w="412458" h="474586">
                <a:moveTo>
                  <a:pt x="0" y="0"/>
                </a:moveTo>
                <a:lnTo>
                  <a:pt x="412459" y="0"/>
                </a:lnTo>
                <a:lnTo>
                  <a:pt x="412459" y="474586"/>
                </a:lnTo>
                <a:lnTo>
                  <a:pt x="0" y="47458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8" name="Freeform 8"/>
          <p:cNvSpPr/>
          <p:nvPr/>
        </p:nvSpPr>
        <p:spPr>
          <a:xfrm>
            <a:off x="9808745" y="1699113"/>
            <a:ext cx="8070592" cy="5974877"/>
          </a:xfrm>
          <a:custGeom>
            <a:avLst/>
            <a:gdLst/>
            <a:ahLst/>
            <a:cxnLst/>
            <a:rect l="l" t="t" r="r" b="b"/>
            <a:pathLst>
              <a:path w="8070592" h="5974877">
                <a:moveTo>
                  <a:pt x="0" y="0"/>
                </a:moveTo>
                <a:lnTo>
                  <a:pt x="8070592" y="0"/>
                </a:lnTo>
                <a:lnTo>
                  <a:pt x="8070592" y="5974877"/>
                </a:lnTo>
                <a:lnTo>
                  <a:pt x="0" y="5974877"/>
                </a:lnTo>
                <a:lnTo>
                  <a:pt x="0" y="0"/>
                </a:lnTo>
                <a:close/>
              </a:path>
            </a:pathLst>
          </a:custGeom>
          <a:blipFill>
            <a:blip r:embed="rId4"/>
            <a:stretch>
              <a:fillRect t="-822" b="-822"/>
            </a:stretch>
          </a:blipFill>
        </p:spPr>
      </p:sp>
      <p:sp>
        <p:nvSpPr>
          <p:cNvPr id="9" name="Freeform 9"/>
          <p:cNvSpPr/>
          <p:nvPr/>
        </p:nvSpPr>
        <p:spPr>
          <a:xfrm>
            <a:off x="857031" y="1810907"/>
            <a:ext cx="8528120" cy="5863082"/>
          </a:xfrm>
          <a:custGeom>
            <a:avLst/>
            <a:gdLst/>
            <a:ahLst/>
            <a:cxnLst/>
            <a:rect l="l" t="t" r="r" b="b"/>
            <a:pathLst>
              <a:path w="8528120" h="5863082">
                <a:moveTo>
                  <a:pt x="0" y="0"/>
                </a:moveTo>
                <a:lnTo>
                  <a:pt x="8528120" y="0"/>
                </a:lnTo>
                <a:lnTo>
                  <a:pt x="8528120" y="5863083"/>
                </a:lnTo>
                <a:lnTo>
                  <a:pt x="0" y="5863083"/>
                </a:lnTo>
                <a:lnTo>
                  <a:pt x="0" y="0"/>
                </a:lnTo>
                <a:close/>
              </a:path>
            </a:pathLst>
          </a:custGeom>
          <a:blipFill>
            <a:blip r:embed="rId5"/>
            <a:stretch>
              <a:fillRect/>
            </a:stretch>
          </a:blipFill>
        </p:spPr>
      </p:sp>
      <p:sp>
        <p:nvSpPr>
          <p:cNvPr id="10" name="TextBox 10"/>
          <p:cNvSpPr txBox="1"/>
          <p:nvPr/>
        </p:nvSpPr>
        <p:spPr>
          <a:xfrm>
            <a:off x="5121091" y="165127"/>
            <a:ext cx="5698495" cy="1384301"/>
          </a:xfrm>
          <a:prstGeom prst="rect">
            <a:avLst/>
          </a:prstGeom>
        </p:spPr>
        <p:txBody>
          <a:bodyPr lIns="0" tIns="0" rIns="0" bIns="0" rtlCol="0" anchor="t">
            <a:spAutoFit/>
          </a:bodyPr>
          <a:lstStyle/>
          <a:p>
            <a:pPr algn="ctr">
              <a:lnSpc>
                <a:spcPts val="5599"/>
              </a:lnSpc>
              <a:spcBef>
                <a:spcPct val="0"/>
              </a:spcBef>
            </a:pPr>
            <a:r>
              <a:rPr lang="en-US" sz="3999" b="1">
                <a:solidFill>
                  <a:srgbClr val="000000"/>
                </a:solidFill>
                <a:latin typeface="Atkinson Hyperlegible Bold"/>
                <a:ea typeface="Atkinson Hyperlegible Bold"/>
                <a:cs typeface="Atkinson Hyperlegible Bold"/>
                <a:sym typeface="Atkinson Hyperlegible Bold"/>
              </a:rPr>
              <a:t>Viewership by Race and Age bracket</a:t>
            </a:r>
          </a:p>
        </p:txBody>
      </p:sp>
      <p:sp>
        <p:nvSpPr>
          <p:cNvPr id="11" name="TextBox 11"/>
          <p:cNvSpPr txBox="1"/>
          <p:nvPr/>
        </p:nvSpPr>
        <p:spPr>
          <a:xfrm>
            <a:off x="1382406" y="7874015"/>
            <a:ext cx="13629809" cy="2076451"/>
          </a:xfrm>
          <a:prstGeom prst="rect">
            <a:avLst/>
          </a:prstGeom>
        </p:spPr>
        <p:txBody>
          <a:bodyPr lIns="0" tIns="0" rIns="0" bIns="0" rtlCol="0" anchor="t">
            <a:spAutoFit/>
          </a:bodyPr>
          <a:lstStyle/>
          <a:p>
            <a:pPr marL="647695" lvl="1" indent="-323848" algn="l">
              <a:lnSpc>
                <a:spcPts val="4199"/>
              </a:lnSpc>
              <a:buFont typeface="Arial"/>
              <a:buChar char="•"/>
            </a:pPr>
            <a:r>
              <a:rPr lang="en-US" sz="2999" dirty="0">
                <a:solidFill>
                  <a:srgbClr val="000000"/>
                </a:solidFill>
                <a:latin typeface="Atkinson Hyperlegible"/>
                <a:ea typeface="Atkinson Hyperlegible"/>
                <a:cs typeface="Atkinson Hyperlegible"/>
                <a:sym typeface="Atkinson Hyperlegible"/>
              </a:rPr>
              <a:t>The above tables depicts the demographic values related to viewership  by race and age bracket.</a:t>
            </a:r>
          </a:p>
          <a:p>
            <a:pPr marL="647695" lvl="1" indent="-323848" algn="l">
              <a:lnSpc>
                <a:spcPts val="4199"/>
              </a:lnSpc>
              <a:buFont typeface="Arial"/>
              <a:buChar char="•"/>
            </a:pPr>
            <a:r>
              <a:rPr lang="en-US" sz="2999" dirty="0">
                <a:solidFill>
                  <a:srgbClr val="000000"/>
                </a:solidFill>
                <a:latin typeface="Atkinson Hyperlegible"/>
                <a:ea typeface="Atkinson Hyperlegible"/>
                <a:cs typeface="Atkinson Hyperlegible"/>
                <a:sym typeface="Atkinson Hyperlegible"/>
              </a:rPr>
              <a:t>Teen to Young Adult have the highest demographic of viewership with almost 4000 registered slots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sp>
        <p:nvSpPr>
          <p:cNvPr id="2" name="Freeform 2"/>
          <p:cNvSpPr/>
          <p:nvPr/>
        </p:nvSpPr>
        <p:spPr>
          <a:xfrm rot="5400000">
            <a:off x="744139" y="1964825"/>
            <a:ext cx="707144" cy="707144"/>
          </a:xfrm>
          <a:custGeom>
            <a:avLst/>
            <a:gdLst/>
            <a:ahLst/>
            <a:cxnLst/>
            <a:rect l="l" t="t" r="r" b="b"/>
            <a:pathLst>
              <a:path w="707144" h="707144">
                <a:moveTo>
                  <a:pt x="0" y="0"/>
                </a:moveTo>
                <a:lnTo>
                  <a:pt x="707144" y="0"/>
                </a:lnTo>
                <a:lnTo>
                  <a:pt x="707144" y="707144"/>
                </a:lnTo>
                <a:lnTo>
                  <a:pt x="0" y="70714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5400000">
            <a:off x="1028834" y="5143500"/>
            <a:ext cx="707144" cy="707144"/>
          </a:xfrm>
          <a:custGeom>
            <a:avLst/>
            <a:gdLst/>
            <a:ahLst/>
            <a:cxnLst/>
            <a:rect l="l" t="t" r="r" b="b"/>
            <a:pathLst>
              <a:path w="707144" h="707144">
                <a:moveTo>
                  <a:pt x="0" y="0"/>
                </a:moveTo>
                <a:lnTo>
                  <a:pt x="707144" y="0"/>
                </a:lnTo>
                <a:lnTo>
                  <a:pt x="707144" y="707144"/>
                </a:lnTo>
                <a:lnTo>
                  <a:pt x="0" y="70714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rot="5400000">
            <a:off x="1097711" y="7932090"/>
            <a:ext cx="707144" cy="707144"/>
          </a:xfrm>
          <a:custGeom>
            <a:avLst/>
            <a:gdLst/>
            <a:ahLst/>
            <a:cxnLst/>
            <a:rect l="l" t="t" r="r" b="b"/>
            <a:pathLst>
              <a:path w="707144" h="707144">
                <a:moveTo>
                  <a:pt x="0" y="0"/>
                </a:moveTo>
                <a:lnTo>
                  <a:pt x="707144" y="0"/>
                </a:lnTo>
                <a:lnTo>
                  <a:pt x="707144" y="707144"/>
                </a:lnTo>
                <a:lnTo>
                  <a:pt x="0" y="70714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AutoShape 5"/>
          <p:cNvSpPr/>
          <p:nvPr/>
        </p:nvSpPr>
        <p:spPr>
          <a:xfrm flipV="1">
            <a:off x="1028700" y="689332"/>
            <a:ext cx="489623" cy="0"/>
          </a:xfrm>
          <a:prstGeom prst="line">
            <a:avLst/>
          </a:prstGeom>
          <a:ln w="28575" cap="flat">
            <a:solidFill>
              <a:srgbClr val="4A2C21"/>
            </a:solidFill>
            <a:prstDash val="solid"/>
            <a:headEnd type="none" w="sm" len="sm"/>
            <a:tailEnd type="none" w="sm" len="sm"/>
          </a:ln>
        </p:spPr>
      </p:sp>
      <p:sp>
        <p:nvSpPr>
          <p:cNvPr id="6" name="AutoShape 6"/>
          <p:cNvSpPr/>
          <p:nvPr/>
        </p:nvSpPr>
        <p:spPr>
          <a:xfrm flipV="1">
            <a:off x="1028700" y="790603"/>
            <a:ext cx="489623" cy="0"/>
          </a:xfrm>
          <a:prstGeom prst="line">
            <a:avLst/>
          </a:prstGeom>
          <a:ln w="28575" cap="flat">
            <a:solidFill>
              <a:srgbClr val="4A2C21"/>
            </a:solidFill>
            <a:prstDash val="solid"/>
            <a:headEnd type="none" w="sm" len="sm"/>
            <a:tailEnd type="none" w="sm" len="sm"/>
          </a:ln>
        </p:spPr>
      </p:sp>
      <p:sp>
        <p:nvSpPr>
          <p:cNvPr id="7" name="AutoShape 7"/>
          <p:cNvSpPr/>
          <p:nvPr/>
        </p:nvSpPr>
        <p:spPr>
          <a:xfrm>
            <a:off x="1028700" y="895378"/>
            <a:ext cx="353706" cy="0"/>
          </a:xfrm>
          <a:prstGeom prst="line">
            <a:avLst/>
          </a:prstGeom>
          <a:ln w="28575" cap="flat">
            <a:solidFill>
              <a:srgbClr val="4A2C21"/>
            </a:solidFill>
            <a:prstDash val="solid"/>
            <a:headEnd type="none" w="sm" len="sm"/>
            <a:tailEnd type="none" w="sm" len="sm"/>
          </a:ln>
        </p:spPr>
      </p:sp>
      <p:sp>
        <p:nvSpPr>
          <p:cNvPr id="8" name="AutoShape 8"/>
          <p:cNvSpPr/>
          <p:nvPr/>
        </p:nvSpPr>
        <p:spPr>
          <a:xfrm flipH="1">
            <a:off x="17578622" y="9251148"/>
            <a:ext cx="0" cy="1252579"/>
          </a:xfrm>
          <a:prstGeom prst="line">
            <a:avLst/>
          </a:prstGeom>
          <a:ln w="19050" cap="flat">
            <a:solidFill>
              <a:srgbClr val="4A2C21"/>
            </a:solidFill>
            <a:prstDash val="solid"/>
            <a:headEnd type="none" w="sm" len="sm"/>
            <a:tailEnd type="none" w="sm" len="sm"/>
          </a:ln>
        </p:spPr>
      </p:sp>
      <p:grpSp>
        <p:nvGrpSpPr>
          <p:cNvPr id="9" name="Group 9"/>
          <p:cNvGrpSpPr/>
          <p:nvPr/>
        </p:nvGrpSpPr>
        <p:grpSpPr>
          <a:xfrm>
            <a:off x="13368484" y="-1980683"/>
            <a:ext cx="4919516" cy="4919516"/>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4A2C21"/>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2" name="Freeform 12"/>
          <p:cNvSpPr/>
          <p:nvPr/>
        </p:nvSpPr>
        <p:spPr>
          <a:xfrm>
            <a:off x="537910" y="3727129"/>
            <a:ext cx="412458" cy="474586"/>
          </a:xfrm>
          <a:custGeom>
            <a:avLst/>
            <a:gdLst/>
            <a:ahLst/>
            <a:cxnLst/>
            <a:rect l="l" t="t" r="r" b="b"/>
            <a:pathLst>
              <a:path w="412458" h="474586">
                <a:moveTo>
                  <a:pt x="0" y="0"/>
                </a:moveTo>
                <a:lnTo>
                  <a:pt x="412459" y="0"/>
                </a:lnTo>
                <a:lnTo>
                  <a:pt x="412459" y="474586"/>
                </a:lnTo>
                <a:lnTo>
                  <a:pt x="0" y="47458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a:ln cap="sq">
            <a:noFill/>
            <a:prstDash val="solid"/>
            <a:miter/>
          </a:ln>
        </p:spPr>
      </p:sp>
      <p:sp>
        <p:nvSpPr>
          <p:cNvPr id="13" name="Freeform 13"/>
          <p:cNvSpPr/>
          <p:nvPr/>
        </p:nvSpPr>
        <p:spPr>
          <a:xfrm>
            <a:off x="15973791" y="8164647"/>
            <a:ext cx="412458" cy="474586"/>
          </a:xfrm>
          <a:custGeom>
            <a:avLst/>
            <a:gdLst/>
            <a:ahLst/>
            <a:cxnLst/>
            <a:rect l="l" t="t" r="r" b="b"/>
            <a:pathLst>
              <a:path w="412458" h="474586">
                <a:moveTo>
                  <a:pt x="0" y="0"/>
                </a:moveTo>
                <a:lnTo>
                  <a:pt x="412458" y="0"/>
                </a:lnTo>
                <a:lnTo>
                  <a:pt x="412458" y="474587"/>
                </a:lnTo>
                <a:lnTo>
                  <a:pt x="0" y="474587"/>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a:ln cap="sq">
            <a:noFill/>
            <a:prstDash val="solid"/>
            <a:miter/>
          </a:ln>
        </p:spPr>
      </p:sp>
      <p:sp>
        <p:nvSpPr>
          <p:cNvPr id="14" name="Freeform 14"/>
          <p:cNvSpPr/>
          <p:nvPr/>
        </p:nvSpPr>
        <p:spPr>
          <a:xfrm>
            <a:off x="11480366" y="2671969"/>
            <a:ext cx="6396003" cy="4330686"/>
          </a:xfrm>
          <a:custGeom>
            <a:avLst/>
            <a:gdLst/>
            <a:ahLst/>
            <a:cxnLst/>
            <a:rect l="l" t="t" r="r" b="b"/>
            <a:pathLst>
              <a:path w="6396003" h="4330686">
                <a:moveTo>
                  <a:pt x="0" y="0"/>
                </a:moveTo>
                <a:lnTo>
                  <a:pt x="6396003" y="0"/>
                </a:lnTo>
                <a:lnTo>
                  <a:pt x="6396003" y="4330687"/>
                </a:lnTo>
                <a:lnTo>
                  <a:pt x="0" y="4330687"/>
                </a:lnTo>
                <a:lnTo>
                  <a:pt x="0" y="0"/>
                </a:lnTo>
                <a:close/>
              </a:path>
            </a:pathLst>
          </a:custGeom>
          <a:blipFill>
            <a:blip r:embed="rId6"/>
            <a:stretch>
              <a:fillRect t="-19199" r="-24167"/>
            </a:stretch>
          </a:blipFill>
        </p:spPr>
      </p:sp>
      <p:sp>
        <p:nvSpPr>
          <p:cNvPr id="15" name="TextBox 15"/>
          <p:cNvSpPr txBox="1"/>
          <p:nvPr/>
        </p:nvSpPr>
        <p:spPr>
          <a:xfrm>
            <a:off x="2658718" y="0"/>
            <a:ext cx="9717788" cy="1925320"/>
          </a:xfrm>
          <a:prstGeom prst="rect">
            <a:avLst/>
          </a:prstGeom>
        </p:spPr>
        <p:txBody>
          <a:bodyPr lIns="0" tIns="0" rIns="0" bIns="0" rtlCol="0" anchor="t">
            <a:spAutoFit/>
          </a:bodyPr>
          <a:lstStyle/>
          <a:p>
            <a:pPr algn="l">
              <a:lnSpc>
                <a:spcPts val="6800"/>
              </a:lnSpc>
            </a:pPr>
            <a:r>
              <a:rPr lang="en-US" sz="6800" spc="-374" dirty="0">
                <a:solidFill>
                  <a:srgbClr val="2E2623"/>
                </a:solidFill>
                <a:latin typeface="Heading Now 71-78"/>
                <a:ea typeface="Heading Now 71-78"/>
                <a:cs typeface="Heading Now 71-78"/>
                <a:sym typeface="Heading Now 71-78"/>
              </a:rPr>
              <a:t>Recommendation on content</a:t>
            </a:r>
          </a:p>
        </p:txBody>
      </p:sp>
      <p:sp>
        <p:nvSpPr>
          <p:cNvPr id="16" name="TextBox 16"/>
          <p:cNvSpPr txBox="1"/>
          <p:nvPr/>
        </p:nvSpPr>
        <p:spPr>
          <a:xfrm>
            <a:off x="2171051" y="1963347"/>
            <a:ext cx="8813326" cy="3077766"/>
          </a:xfrm>
          <a:prstGeom prst="rect">
            <a:avLst/>
          </a:prstGeom>
        </p:spPr>
        <p:txBody>
          <a:bodyPr wrap="square" lIns="0" tIns="0" rIns="0" bIns="0" rtlCol="0" anchor="t">
            <a:spAutoFit/>
          </a:bodyPr>
          <a:lstStyle/>
          <a:p>
            <a:pPr marL="712465" lvl="1" indent="-356233" algn="l">
              <a:lnSpc>
                <a:spcPts val="3959"/>
              </a:lnSpc>
              <a:buFont typeface="Arial"/>
              <a:buChar char="•"/>
            </a:pPr>
            <a:r>
              <a:rPr lang="en-US" sz="3299" dirty="0">
                <a:solidFill>
                  <a:srgbClr val="2E2623"/>
                </a:solidFill>
                <a:latin typeface="Atkinson Hyperlegible"/>
                <a:ea typeface="Atkinson Hyperlegible"/>
                <a:cs typeface="Atkinson Hyperlegible"/>
                <a:sym typeface="Atkinson Hyperlegible"/>
              </a:rPr>
              <a:t>After careful data extraction and review I advise we focus on revamping content on low performing channels by conducting </a:t>
            </a:r>
            <a:r>
              <a:rPr lang="en-US" sz="3299" dirty="0" smtClean="0">
                <a:solidFill>
                  <a:srgbClr val="2E2623"/>
                </a:solidFill>
                <a:latin typeface="Atkinson Hyperlegible"/>
                <a:ea typeface="Atkinson Hyperlegible"/>
                <a:cs typeface="Atkinson Hyperlegible"/>
                <a:sym typeface="Atkinson Hyperlegible"/>
              </a:rPr>
              <a:t>questionnaire </a:t>
            </a:r>
            <a:r>
              <a:rPr lang="en-US" sz="3299" dirty="0">
                <a:solidFill>
                  <a:srgbClr val="2E2623"/>
                </a:solidFill>
                <a:latin typeface="Atkinson Hyperlegible"/>
                <a:ea typeface="Atkinson Hyperlegible"/>
                <a:cs typeface="Atkinson Hyperlegible"/>
                <a:sym typeface="Atkinson Hyperlegible"/>
              </a:rPr>
              <a:t>to all subscribers with a particular focus on gathering information on </a:t>
            </a:r>
            <a:r>
              <a:rPr lang="en-US" sz="3299" dirty="0" smtClean="0">
                <a:solidFill>
                  <a:srgbClr val="2E2623"/>
                </a:solidFill>
                <a:latin typeface="Atkinson Hyperlegible"/>
                <a:ea typeface="Atkinson Hyperlegible"/>
                <a:cs typeface="Atkinson Hyperlegible"/>
                <a:sym typeface="Atkinson Hyperlegible"/>
              </a:rPr>
              <a:t>viewership trends in the Northern Cape</a:t>
            </a:r>
            <a:endParaRPr lang="en-US" sz="3299" dirty="0">
              <a:solidFill>
                <a:srgbClr val="2E2623"/>
              </a:solidFill>
              <a:latin typeface="Atkinson Hyperlegible"/>
              <a:ea typeface="Atkinson Hyperlegible"/>
              <a:cs typeface="Atkinson Hyperlegible"/>
              <a:sym typeface="Atkinson Hyperlegible"/>
            </a:endParaRPr>
          </a:p>
        </p:txBody>
      </p:sp>
      <p:sp>
        <p:nvSpPr>
          <p:cNvPr id="17" name="TextBox 17"/>
          <p:cNvSpPr txBox="1"/>
          <p:nvPr/>
        </p:nvSpPr>
        <p:spPr>
          <a:xfrm>
            <a:off x="4259752" y="1572085"/>
            <a:ext cx="4201290" cy="361950"/>
          </a:xfrm>
          <a:prstGeom prst="rect">
            <a:avLst/>
          </a:prstGeom>
        </p:spPr>
        <p:txBody>
          <a:bodyPr lIns="0" tIns="0" rIns="0" bIns="0" rtlCol="0" anchor="t">
            <a:spAutoFit/>
          </a:bodyPr>
          <a:lstStyle/>
          <a:p>
            <a:pPr algn="l">
              <a:lnSpc>
                <a:spcPts val="2879"/>
              </a:lnSpc>
            </a:pPr>
            <a:r>
              <a:rPr lang="en-US" sz="2400" b="1" dirty="0">
                <a:solidFill>
                  <a:srgbClr val="2E2623"/>
                </a:solidFill>
                <a:latin typeface="TT Firs Neue Bold"/>
                <a:ea typeface="TT Firs Neue Bold"/>
                <a:cs typeface="TT Firs Neue Bold"/>
                <a:sym typeface="TT Firs Neue Bold"/>
              </a:rPr>
              <a:t>Viewer engagement</a:t>
            </a:r>
          </a:p>
        </p:txBody>
      </p:sp>
      <p:sp>
        <p:nvSpPr>
          <p:cNvPr id="18" name="TextBox 18"/>
          <p:cNvSpPr txBox="1"/>
          <p:nvPr/>
        </p:nvSpPr>
        <p:spPr>
          <a:xfrm>
            <a:off x="3913289" y="5000923"/>
            <a:ext cx="5311223" cy="361950"/>
          </a:xfrm>
          <a:prstGeom prst="rect">
            <a:avLst/>
          </a:prstGeom>
        </p:spPr>
        <p:txBody>
          <a:bodyPr lIns="0" tIns="0" rIns="0" bIns="0" rtlCol="0" anchor="t">
            <a:spAutoFit/>
          </a:bodyPr>
          <a:lstStyle/>
          <a:p>
            <a:pPr algn="l">
              <a:lnSpc>
                <a:spcPts val="2879"/>
              </a:lnSpc>
            </a:pPr>
            <a:r>
              <a:rPr lang="en-US" sz="2400" b="1" dirty="0">
                <a:solidFill>
                  <a:srgbClr val="2E2623"/>
                </a:solidFill>
                <a:latin typeface="TT Firs Neue Bold"/>
                <a:ea typeface="TT Firs Neue Bold"/>
                <a:cs typeface="TT Firs Neue Bold"/>
                <a:sym typeface="TT Firs Neue Bold"/>
              </a:rPr>
              <a:t>Popular channels repeat content</a:t>
            </a:r>
          </a:p>
        </p:txBody>
      </p:sp>
      <p:sp>
        <p:nvSpPr>
          <p:cNvPr id="19" name="TextBox 19"/>
          <p:cNvSpPr txBox="1"/>
          <p:nvPr/>
        </p:nvSpPr>
        <p:spPr>
          <a:xfrm rot="5400000">
            <a:off x="15298728" y="6551374"/>
            <a:ext cx="4558876" cy="297180"/>
          </a:xfrm>
          <a:prstGeom prst="rect">
            <a:avLst/>
          </a:prstGeom>
        </p:spPr>
        <p:txBody>
          <a:bodyPr lIns="0" tIns="0" rIns="0" bIns="0" rtlCol="0" anchor="t">
            <a:spAutoFit/>
          </a:bodyPr>
          <a:lstStyle/>
          <a:p>
            <a:pPr algn="r">
              <a:lnSpc>
                <a:spcPts val="2520"/>
              </a:lnSpc>
            </a:pPr>
            <a:r>
              <a:rPr lang="en-US" sz="1800" i="1" spc="392">
                <a:solidFill>
                  <a:srgbClr val="2E2623"/>
                </a:solidFill>
                <a:latin typeface="TT Firs Neue Italics"/>
                <a:ea typeface="TT Firs Neue Italics"/>
                <a:cs typeface="TT Firs Neue Italics"/>
                <a:sym typeface="TT Firs Neue Italics"/>
              </a:rPr>
              <a:t>Bright TV DATA</a:t>
            </a:r>
          </a:p>
        </p:txBody>
      </p:sp>
      <p:sp>
        <p:nvSpPr>
          <p:cNvPr id="20" name="TextBox 20"/>
          <p:cNvSpPr txBox="1"/>
          <p:nvPr/>
        </p:nvSpPr>
        <p:spPr>
          <a:xfrm>
            <a:off x="2224022" y="5304284"/>
            <a:ext cx="10333360" cy="2564805"/>
          </a:xfrm>
          <a:prstGeom prst="rect">
            <a:avLst/>
          </a:prstGeom>
        </p:spPr>
        <p:txBody>
          <a:bodyPr lIns="0" tIns="0" rIns="0" bIns="0" rtlCol="0" anchor="t">
            <a:spAutoFit/>
          </a:bodyPr>
          <a:lstStyle/>
          <a:p>
            <a:pPr marL="712465" lvl="1" indent="-356233" algn="l">
              <a:lnSpc>
                <a:spcPts val="3959"/>
              </a:lnSpc>
              <a:buFont typeface="Arial"/>
              <a:buChar char="•"/>
            </a:pPr>
            <a:r>
              <a:rPr lang="en-US" sz="3299" dirty="0">
                <a:solidFill>
                  <a:srgbClr val="2E2623"/>
                </a:solidFill>
                <a:latin typeface="Atkinson Hyperlegible"/>
                <a:ea typeface="Atkinson Hyperlegible"/>
                <a:cs typeface="Atkinson Hyperlegible"/>
                <a:sym typeface="Atkinson Hyperlegible"/>
              </a:rPr>
              <a:t>Bright TV has information such as social media handles and emails along with Broadcast slots that can be used to advertise popular channel events for days with slow viewership to </a:t>
            </a:r>
            <a:r>
              <a:rPr lang="en-US" sz="3299" dirty="0" smtClean="0">
                <a:solidFill>
                  <a:srgbClr val="2E2623"/>
                </a:solidFill>
                <a:latin typeface="Atkinson Hyperlegible"/>
                <a:ea typeface="Atkinson Hyperlegible"/>
                <a:cs typeface="Atkinson Hyperlegible"/>
                <a:sym typeface="Atkinson Hyperlegible"/>
              </a:rPr>
              <a:t>attract </a:t>
            </a:r>
            <a:r>
              <a:rPr lang="en-US" sz="3299" dirty="0">
                <a:solidFill>
                  <a:srgbClr val="2E2623"/>
                </a:solidFill>
                <a:latin typeface="Atkinson Hyperlegible"/>
                <a:ea typeface="Atkinson Hyperlegible"/>
                <a:cs typeface="Atkinson Hyperlegible"/>
                <a:sym typeface="Atkinson Hyperlegible"/>
              </a:rPr>
              <a:t>clients and spread the word for new subscription</a:t>
            </a:r>
          </a:p>
        </p:txBody>
      </p:sp>
      <p:sp>
        <p:nvSpPr>
          <p:cNvPr id="21" name="TextBox 21"/>
          <p:cNvSpPr txBox="1"/>
          <p:nvPr/>
        </p:nvSpPr>
        <p:spPr>
          <a:xfrm>
            <a:off x="2584509" y="8172450"/>
            <a:ext cx="10333360" cy="1529393"/>
          </a:xfrm>
          <a:prstGeom prst="rect">
            <a:avLst/>
          </a:prstGeom>
        </p:spPr>
        <p:txBody>
          <a:bodyPr lIns="0" tIns="0" rIns="0" bIns="0" rtlCol="0" anchor="t">
            <a:spAutoFit/>
          </a:bodyPr>
          <a:lstStyle/>
          <a:p>
            <a:pPr marL="712465" lvl="1" indent="-356233" algn="l">
              <a:lnSpc>
                <a:spcPts val="3959"/>
              </a:lnSpc>
              <a:buFont typeface="Arial"/>
              <a:buChar char="•"/>
            </a:pPr>
            <a:r>
              <a:rPr lang="en-US" sz="3299" dirty="0">
                <a:solidFill>
                  <a:srgbClr val="2E2623"/>
                </a:solidFill>
                <a:latin typeface="Atkinson Hyperlegible"/>
                <a:ea typeface="Atkinson Hyperlegible"/>
                <a:cs typeface="Atkinson Hyperlegible"/>
                <a:sym typeface="Atkinson Hyperlegible"/>
              </a:rPr>
              <a:t>Provide discount on premiums and create viewership competition along with grand </a:t>
            </a:r>
            <a:r>
              <a:rPr lang="en-US" sz="3299" dirty="0" smtClean="0">
                <a:solidFill>
                  <a:srgbClr val="2E2623"/>
                </a:solidFill>
                <a:latin typeface="Atkinson Hyperlegible"/>
                <a:ea typeface="Atkinson Hyperlegible"/>
                <a:cs typeface="Atkinson Hyperlegible"/>
                <a:sym typeface="Atkinson Hyperlegible"/>
              </a:rPr>
              <a:t>prices to lucky </a:t>
            </a:r>
            <a:r>
              <a:rPr lang="en-US" sz="3299" dirty="0">
                <a:solidFill>
                  <a:srgbClr val="2E2623"/>
                </a:solidFill>
                <a:latin typeface="Atkinson Hyperlegible"/>
                <a:ea typeface="Atkinson Hyperlegible"/>
                <a:cs typeface="Atkinson Hyperlegible"/>
                <a:sym typeface="Atkinson Hyperlegible"/>
              </a:rPr>
              <a:t>subscribers</a:t>
            </a:r>
          </a:p>
        </p:txBody>
      </p:sp>
      <p:sp>
        <p:nvSpPr>
          <p:cNvPr id="22" name="TextBox 22"/>
          <p:cNvSpPr txBox="1"/>
          <p:nvPr/>
        </p:nvSpPr>
        <p:spPr>
          <a:xfrm>
            <a:off x="3968735" y="7856843"/>
            <a:ext cx="5311223" cy="361950"/>
          </a:xfrm>
          <a:prstGeom prst="rect">
            <a:avLst/>
          </a:prstGeom>
        </p:spPr>
        <p:txBody>
          <a:bodyPr lIns="0" tIns="0" rIns="0" bIns="0" rtlCol="0" anchor="t">
            <a:spAutoFit/>
          </a:bodyPr>
          <a:lstStyle/>
          <a:p>
            <a:pPr algn="l">
              <a:lnSpc>
                <a:spcPts val="2879"/>
              </a:lnSpc>
            </a:pPr>
            <a:r>
              <a:rPr lang="en-US" sz="2400" b="1">
                <a:solidFill>
                  <a:srgbClr val="2E2623"/>
                </a:solidFill>
                <a:latin typeface="TT Firs Neue Bold"/>
                <a:ea typeface="TT Firs Neue Bold"/>
                <a:cs typeface="TT Firs Neue Bold"/>
                <a:sym typeface="TT Firs Neue Bold"/>
              </a:rPr>
              <a:t>Promotions on subscriptions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sp>
        <p:nvSpPr>
          <p:cNvPr id="2" name="Freeform 2"/>
          <p:cNvSpPr/>
          <p:nvPr/>
        </p:nvSpPr>
        <p:spPr>
          <a:xfrm>
            <a:off x="1886208" y="1410363"/>
            <a:ext cx="501992" cy="501992"/>
          </a:xfrm>
          <a:custGeom>
            <a:avLst/>
            <a:gdLst/>
            <a:ahLst/>
            <a:cxnLst/>
            <a:rect l="l" t="t" r="r" b="b"/>
            <a:pathLst>
              <a:path w="501992" h="501992">
                <a:moveTo>
                  <a:pt x="0" y="0"/>
                </a:moveTo>
                <a:lnTo>
                  <a:pt x="501992" y="0"/>
                </a:lnTo>
                <a:lnTo>
                  <a:pt x="501992" y="501992"/>
                </a:lnTo>
                <a:lnTo>
                  <a:pt x="0" y="5019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AutoShape 3"/>
          <p:cNvSpPr/>
          <p:nvPr/>
        </p:nvSpPr>
        <p:spPr>
          <a:xfrm flipV="1">
            <a:off x="1028700" y="689332"/>
            <a:ext cx="489623" cy="0"/>
          </a:xfrm>
          <a:prstGeom prst="line">
            <a:avLst/>
          </a:prstGeom>
          <a:ln w="28575" cap="flat">
            <a:solidFill>
              <a:srgbClr val="4A2C21"/>
            </a:solidFill>
            <a:prstDash val="solid"/>
            <a:headEnd type="none" w="sm" len="sm"/>
            <a:tailEnd type="none" w="sm" len="sm"/>
          </a:ln>
        </p:spPr>
      </p:sp>
      <p:sp>
        <p:nvSpPr>
          <p:cNvPr id="4" name="AutoShape 4"/>
          <p:cNvSpPr/>
          <p:nvPr/>
        </p:nvSpPr>
        <p:spPr>
          <a:xfrm flipV="1">
            <a:off x="1028700" y="790603"/>
            <a:ext cx="489623" cy="0"/>
          </a:xfrm>
          <a:prstGeom prst="line">
            <a:avLst/>
          </a:prstGeom>
          <a:ln w="28575" cap="flat">
            <a:solidFill>
              <a:srgbClr val="4A2C21"/>
            </a:solidFill>
            <a:prstDash val="solid"/>
            <a:headEnd type="none" w="sm" len="sm"/>
            <a:tailEnd type="none" w="sm" len="sm"/>
          </a:ln>
        </p:spPr>
      </p:sp>
      <p:sp>
        <p:nvSpPr>
          <p:cNvPr id="5" name="AutoShape 5"/>
          <p:cNvSpPr/>
          <p:nvPr/>
        </p:nvSpPr>
        <p:spPr>
          <a:xfrm>
            <a:off x="1028700" y="895378"/>
            <a:ext cx="353706" cy="0"/>
          </a:xfrm>
          <a:prstGeom prst="line">
            <a:avLst/>
          </a:prstGeom>
          <a:ln w="28575" cap="flat">
            <a:solidFill>
              <a:srgbClr val="4A2C21"/>
            </a:solidFill>
            <a:prstDash val="solid"/>
            <a:headEnd type="none" w="sm" len="sm"/>
            <a:tailEnd type="none" w="sm" len="sm"/>
          </a:ln>
        </p:spPr>
      </p:sp>
      <p:sp>
        <p:nvSpPr>
          <p:cNvPr id="6" name="AutoShape 6"/>
          <p:cNvSpPr/>
          <p:nvPr/>
        </p:nvSpPr>
        <p:spPr>
          <a:xfrm flipH="1">
            <a:off x="17578622" y="9251148"/>
            <a:ext cx="0" cy="1252579"/>
          </a:xfrm>
          <a:prstGeom prst="line">
            <a:avLst/>
          </a:prstGeom>
          <a:ln w="19050" cap="flat">
            <a:solidFill>
              <a:srgbClr val="4A2C21"/>
            </a:solidFill>
            <a:prstDash val="solid"/>
            <a:headEnd type="none" w="sm" len="sm"/>
            <a:tailEnd type="none" w="sm" len="sm"/>
          </a:ln>
        </p:spPr>
      </p:sp>
      <p:sp>
        <p:nvSpPr>
          <p:cNvPr id="7" name="Freeform 7"/>
          <p:cNvSpPr/>
          <p:nvPr/>
        </p:nvSpPr>
        <p:spPr>
          <a:xfrm>
            <a:off x="7839645" y="3429728"/>
            <a:ext cx="412458" cy="474586"/>
          </a:xfrm>
          <a:custGeom>
            <a:avLst/>
            <a:gdLst/>
            <a:ahLst/>
            <a:cxnLst/>
            <a:rect l="l" t="t" r="r" b="b"/>
            <a:pathLst>
              <a:path w="412458" h="474586">
                <a:moveTo>
                  <a:pt x="0" y="0"/>
                </a:moveTo>
                <a:lnTo>
                  <a:pt x="412458" y="0"/>
                </a:lnTo>
                <a:lnTo>
                  <a:pt x="412458" y="474586"/>
                </a:lnTo>
                <a:lnTo>
                  <a:pt x="0" y="47458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a:ln cap="sq">
            <a:noFill/>
            <a:prstDash val="solid"/>
            <a:miter/>
          </a:ln>
        </p:spPr>
      </p:sp>
      <p:sp>
        <p:nvSpPr>
          <p:cNvPr id="8" name="Freeform 8"/>
          <p:cNvSpPr/>
          <p:nvPr/>
        </p:nvSpPr>
        <p:spPr>
          <a:xfrm>
            <a:off x="1975741" y="9188483"/>
            <a:ext cx="412458" cy="474586"/>
          </a:xfrm>
          <a:custGeom>
            <a:avLst/>
            <a:gdLst/>
            <a:ahLst/>
            <a:cxnLst/>
            <a:rect l="l" t="t" r="r" b="b"/>
            <a:pathLst>
              <a:path w="412458" h="474586">
                <a:moveTo>
                  <a:pt x="0" y="0"/>
                </a:moveTo>
                <a:lnTo>
                  <a:pt x="412459" y="0"/>
                </a:lnTo>
                <a:lnTo>
                  <a:pt x="412459" y="474586"/>
                </a:lnTo>
                <a:lnTo>
                  <a:pt x="0" y="47458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a:ln cap="sq">
            <a:noFill/>
            <a:prstDash val="solid"/>
            <a:miter/>
          </a:ln>
        </p:spPr>
      </p:sp>
      <p:sp>
        <p:nvSpPr>
          <p:cNvPr id="9" name="Freeform 9"/>
          <p:cNvSpPr/>
          <p:nvPr/>
        </p:nvSpPr>
        <p:spPr>
          <a:xfrm>
            <a:off x="1930975" y="2676421"/>
            <a:ext cx="501992" cy="501992"/>
          </a:xfrm>
          <a:custGeom>
            <a:avLst/>
            <a:gdLst/>
            <a:ahLst/>
            <a:cxnLst/>
            <a:rect l="l" t="t" r="r" b="b"/>
            <a:pathLst>
              <a:path w="501992" h="501992">
                <a:moveTo>
                  <a:pt x="0" y="0"/>
                </a:moveTo>
                <a:lnTo>
                  <a:pt x="501992" y="0"/>
                </a:lnTo>
                <a:lnTo>
                  <a:pt x="501992" y="501992"/>
                </a:lnTo>
                <a:lnTo>
                  <a:pt x="0" y="5019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0" name="Freeform 10"/>
          <p:cNvSpPr/>
          <p:nvPr/>
        </p:nvSpPr>
        <p:spPr>
          <a:xfrm>
            <a:off x="203700" y="4592656"/>
            <a:ext cx="11634435" cy="6050383"/>
          </a:xfrm>
          <a:custGeom>
            <a:avLst/>
            <a:gdLst/>
            <a:ahLst/>
            <a:cxnLst/>
            <a:rect l="l" t="t" r="r" b="b"/>
            <a:pathLst>
              <a:path w="11634435" h="6050383">
                <a:moveTo>
                  <a:pt x="0" y="0"/>
                </a:moveTo>
                <a:lnTo>
                  <a:pt x="11634436" y="0"/>
                </a:lnTo>
                <a:lnTo>
                  <a:pt x="11634436" y="6050383"/>
                </a:lnTo>
                <a:lnTo>
                  <a:pt x="0" y="6050383"/>
                </a:lnTo>
                <a:lnTo>
                  <a:pt x="0" y="0"/>
                </a:lnTo>
                <a:close/>
              </a:path>
            </a:pathLst>
          </a:custGeom>
          <a:blipFill>
            <a:blip r:embed="rId6"/>
            <a:stretch>
              <a:fillRect t="-4082" b="-4082"/>
            </a:stretch>
          </a:blipFill>
        </p:spPr>
      </p:sp>
      <p:sp>
        <p:nvSpPr>
          <p:cNvPr id="11" name="TextBox 11"/>
          <p:cNvSpPr txBox="1"/>
          <p:nvPr/>
        </p:nvSpPr>
        <p:spPr>
          <a:xfrm>
            <a:off x="2971800" y="180334"/>
            <a:ext cx="12623008" cy="1068070"/>
          </a:xfrm>
          <a:prstGeom prst="rect">
            <a:avLst/>
          </a:prstGeom>
        </p:spPr>
        <p:txBody>
          <a:bodyPr lIns="0" tIns="0" rIns="0" bIns="0" rtlCol="0" anchor="t">
            <a:spAutoFit/>
          </a:bodyPr>
          <a:lstStyle/>
          <a:p>
            <a:pPr algn="l">
              <a:lnSpc>
                <a:spcPts val="6800"/>
              </a:lnSpc>
            </a:pPr>
            <a:r>
              <a:rPr lang="en-US" sz="6800" spc="-374" dirty="0">
                <a:solidFill>
                  <a:srgbClr val="2E2623"/>
                </a:solidFill>
                <a:latin typeface="Heading Now 71-78"/>
                <a:ea typeface="Heading Now 71-78"/>
                <a:cs typeface="Heading Now 71-78"/>
                <a:sym typeface="Heading Now 71-78"/>
              </a:rPr>
              <a:t>Recommendation Continued</a:t>
            </a:r>
          </a:p>
        </p:txBody>
      </p:sp>
      <p:sp>
        <p:nvSpPr>
          <p:cNvPr id="12" name="TextBox 12"/>
          <p:cNvSpPr txBox="1"/>
          <p:nvPr/>
        </p:nvSpPr>
        <p:spPr>
          <a:xfrm rot="5400000">
            <a:off x="15298728" y="6551374"/>
            <a:ext cx="4558876" cy="297180"/>
          </a:xfrm>
          <a:prstGeom prst="rect">
            <a:avLst/>
          </a:prstGeom>
        </p:spPr>
        <p:txBody>
          <a:bodyPr lIns="0" tIns="0" rIns="0" bIns="0" rtlCol="0" anchor="t">
            <a:spAutoFit/>
          </a:bodyPr>
          <a:lstStyle/>
          <a:p>
            <a:pPr algn="r">
              <a:lnSpc>
                <a:spcPts val="2520"/>
              </a:lnSpc>
            </a:pPr>
            <a:r>
              <a:rPr lang="en-US" sz="1800" i="1" spc="392">
                <a:solidFill>
                  <a:srgbClr val="2E2623"/>
                </a:solidFill>
                <a:latin typeface="TT Firs Neue Italics"/>
                <a:ea typeface="TT Firs Neue Italics"/>
                <a:cs typeface="TT Firs Neue Italics"/>
                <a:sym typeface="TT Firs Neue Italics"/>
              </a:rPr>
              <a:t>BRIGHT TV DATA</a:t>
            </a:r>
          </a:p>
        </p:txBody>
      </p:sp>
      <p:sp>
        <p:nvSpPr>
          <p:cNvPr id="13" name="TextBox 13"/>
          <p:cNvSpPr txBox="1"/>
          <p:nvPr/>
        </p:nvSpPr>
        <p:spPr>
          <a:xfrm>
            <a:off x="2672965" y="1190521"/>
            <a:ext cx="10333360" cy="1485900"/>
          </a:xfrm>
          <a:prstGeom prst="rect">
            <a:avLst/>
          </a:prstGeom>
        </p:spPr>
        <p:txBody>
          <a:bodyPr lIns="0" tIns="0" rIns="0" bIns="0" rtlCol="0" anchor="t">
            <a:spAutoFit/>
          </a:bodyPr>
          <a:lstStyle/>
          <a:p>
            <a:pPr marL="712465" lvl="1" indent="-356233" algn="l">
              <a:lnSpc>
                <a:spcPts val="3959"/>
              </a:lnSpc>
              <a:buFont typeface="Arial"/>
              <a:buChar char="•"/>
            </a:pPr>
            <a:r>
              <a:rPr lang="en-US" sz="3299" dirty="0">
                <a:solidFill>
                  <a:srgbClr val="2E2623"/>
                </a:solidFill>
                <a:latin typeface="Atkinson Hyperlegible"/>
                <a:ea typeface="Atkinson Hyperlegible"/>
                <a:cs typeface="Atkinson Hyperlegible"/>
                <a:sym typeface="Atkinson Hyperlegible"/>
              </a:rPr>
              <a:t>Increase social media presence as we are leaving in a digital age and broadcasting has changed tremendously</a:t>
            </a:r>
          </a:p>
        </p:txBody>
      </p:sp>
      <p:sp>
        <p:nvSpPr>
          <p:cNvPr id="14" name="TextBox 14"/>
          <p:cNvSpPr txBox="1"/>
          <p:nvPr/>
        </p:nvSpPr>
        <p:spPr>
          <a:xfrm>
            <a:off x="2672965" y="2676421"/>
            <a:ext cx="9994525" cy="1949252"/>
          </a:xfrm>
          <a:prstGeom prst="rect">
            <a:avLst/>
          </a:prstGeom>
        </p:spPr>
        <p:txBody>
          <a:bodyPr lIns="0" tIns="0" rIns="0" bIns="0" rtlCol="0" anchor="t">
            <a:spAutoFit/>
          </a:bodyPr>
          <a:lstStyle/>
          <a:p>
            <a:pPr marL="689103" lvl="1" indent="-344552" algn="l">
              <a:lnSpc>
                <a:spcPts val="3830"/>
              </a:lnSpc>
              <a:buFont typeface="Arial"/>
              <a:buChar char="•"/>
            </a:pPr>
            <a:r>
              <a:rPr lang="en-US" sz="3191" dirty="0">
                <a:solidFill>
                  <a:srgbClr val="2E2623"/>
                </a:solidFill>
                <a:latin typeface="Atkinson Hyperlegible"/>
                <a:ea typeface="Atkinson Hyperlegible"/>
                <a:cs typeface="Atkinson Hyperlegible"/>
                <a:sym typeface="Atkinson Hyperlegible"/>
              </a:rPr>
              <a:t>Investigate the Cost Benefit Analysis for the CVM Team to creating a Bright TV APP that will reach Viewership in an </a:t>
            </a:r>
            <a:r>
              <a:rPr lang="en-US" sz="3191" dirty="0" smtClean="0">
                <a:solidFill>
                  <a:srgbClr val="2E2623"/>
                </a:solidFill>
                <a:latin typeface="Atkinson Hyperlegible"/>
                <a:ea typeface="Atkinson Hyperlegible"/>
                <a:cs typeface="Atkinson Hyperlegible"/>
                <a:sym typeface="Atkinson Hyperlegible"/>
              </a:rPr>
              <a:t>unconventional </a:t>
            </a:r>
            <a:r>
              <a:rPr lang="en-US" sz="3191" dirty="0">
                <a:solidFill>
                  <a:srgbClr val="2E2623"/>
                </a:solidFill>
                <a:latin typeface="Atkinson Hyperlegible"/>
                <a:ea typeface="Atkinson Hyperlegible"/>
                <a:cs typeface="Atkinson Hyperlegible"/>
                <a:sym typeface="Atkinson Hyperlegible"/>
              </a:rPr>
              <a:t>way to improve channels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sp>
        <p:nvSpPr>
          <p:cNvPr id="2" name="AutoShape 2"/>
          <p:cNvSpPr/>
          <p:nvPr/>
        </p:nvSpPr>
        <p:spPr>
          <a:xfrm flipV="1">
            <a:off x="1028700" y="689332"/>
            <a:ext cx="489623" cy="0"/>
          </a:xfrm>
          <a:prstGeom prst="line">
            <a:avLst/>
          </a:prstGeom>
          <a:ln w="28575" cap="flat">
            <a:solidFill>
              <a:srgbClr val="4A2C21"/>
            </a:solidFill>
            <a:prstDash val="solid"/>
            <a:headEnd type="none" w="sm" len="sm"/>
            <a:tailEnd type="none" w="sm" len="sm"/>
          </a:ln>
        </p:spPr>
      </p:sp>
      <p:sp>
        <p:nvSpPr>
          <p:cNvPr id="3" name="AutoShape 3"/>
          <p:cNvSpPr/>
          <p:nvPr/>
        </p:nvSpPr>
        <p:spPr>
          <a:xfrm flipV="1">
            <a:off x="1028700" y="790603"/>
            <a:ext cx="489623" cy="0"/>
          </a:xfrm>
          <a:prstGeom prst="line">
            <a:avLst/>
          </a:prstGeom>
          <a:ln w="28575" cap="flat">
            <a:solidFill>
              <a:srgbClr val="4A2C21"/>
            </a:solidFill>
            <a:prstDash val="solid"/>
            <a:headEnd type="none" w="sm" len="sm"/>
            <a:tailEnd type="none" w="sm" len="sm"/>
          </a:ln>
        </p:spPr>
      </p:sp>
      <p:sp>
        <p:nvSpPr>
          <p:cNvPr id="4" name="AutoShape 4"/>
          <p:cNvSpPr/>
          <p:nvPr/>
        </p:nvSpPr>
        <p:spPr>
          <a:xfrm>
            <a:off x="1028700" y="895378"/>
            <a:ext cx="353706" cy="0"/>
          </a:xfrm>
          <a:prstGeom prst="line">
            <a:avLst/>
          </a:prstGeom>
          <a:ln w="28575" cap="flat">
            <a:solidFill>
              <a:srgbClr val="4A2C21"/>
            </a:solidFill>
            <a:prstDash val="solid"/>
            <a:headEnd type="none" w="sm" len="sm"/>
            <a:tailEnd type="none" w="sm" len="sm"/>
          </a:ln>
        </p:spPr>
      </p:sp>
      <p:sp>
        <p:nvSpPr>
          <p:cNvPr id="5" name="AutoShape 5"/>
          <p:cNvSpPr/>
          <p:nvPr/>
        </p:nvSpPr>
        <p:spPr>
          <a:xfrm flipH="1">
            <a:off x="17578622" y="9251148"/>
            <a:ext cx="0" cy="1252579"/>
          </a:xfrm>
          <a:prstGeom prst="line">
            <a:avLst/>
          </a:prstGeom>
          <a:ln w="19050" cap="flat">
            <a:solidFill>
              <a:srgbClr val="4A2C21"/>
            </a:solidFill>
            <a:prstDash val="solid"/>
            <a:headEnd type="none" w="sm" len="sm"/>
            <a:tailEnd type="none" w="sm" len="sm"/>
          </a:ln>
        </p:spPr>
      </p:sp>
      <p:sp>
        <p:nvSpPr>
          <p:cNvPr id="6" name="Freeform 6"/>
          <p:cNvSpPr/>
          <p:nvPr/>
        </p:nvSpPr>
        <p:spPr>
          <a:xfrm>
            <a:off x="15716696" y="1351756"/>
            <a:ext cx="412458" cy="474586"/>
          </a:xfrm>
          <a:custGeom>
            <a:avLst/>
            <a:gdLst/>
            <a:ahLst/>
            <a:cxnLst/>
            <a:rect l="l" t="t" r="r" b="b"/>
            <a:pathLst>
              <a:path w="412458" h="474586">
                <a:moveTo>
                  <a:pt x="0" y="0"/>
                </a:moveTo>
                <a:lnTo>
                  <a:pt x="412458" y="0"/>
                </a:lnTo>
                <a:lnTo>
                  <a:pt x="412458" y="474586"/>
                </a:lnTo>
                <a:lnTo>
                  <a:pt x="0" y="47458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p:cNvSpPr/>
          <p:nvPr/>
        </p:nvSpPr>
        <p:spPr>
          <a:xfrm>
            <a:off x="2615385" y="8867154"/>
            <a:ext cx="412458" cy="474586"/>
          </a:xfrm>
          <a:custGeom>
            <a:avLst/>
            <a:gdLst/>
            <a:ahLst/>
            <a:cxnLst/>
            <a:rect l="l" t="t" r="r" b="b"/>
            <a:pathLst>
              <a:path w="412458" h="474586">
                <a:moveTo>
                  <a:pt x="0" y="0"/>
                </a:moveTo>
                <a:lnTo>
                  <a:pt x="412459" y="0"/>
                </a:lnTo>
                <a:lnTo>
                  <a:pt x="412459" y="474586"/>
                </a:lnTo>
                <a:lnTo>
                  <a:pt x="0" y="47458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8" name="Freeform 8"/>
          <p:cNvSpPr/>
          <p:nvPr/>
        </p:nvSpPr>
        <p:spPr>
          <a:xfrm>
            <a:off x="9772196" y="790603"/>
            <a:ext cx="6356958" cy="6356958"/>
          </a:xfrm>
          <a:custGeom>
            <a:avLst/>
            <a:gdLst/>
            <a:ahLst/>
            <a:cxnLst/>
            <a:rect l="l" t="t" r="r" b="b"/>
            <a:pathLst>
              <a:path w="6356958" h="6356958">
                <a:moveTo>
                  <a:pt x="0" y="0"/>
                </a:moveTo>
                <a:lnTo>
                  <a:pt x="6356958" y="0"/>
                </a:lnTo>
                <a:lnTo>
                  <a:pt x="6356958" y="6356958"/>
                </a:lnTo>
                <a:lnTo>
                  <a:pt x="0" y="6356958"/>
                </a:lnTo>
                <a:lnTo>
                  <a:pt x="0" y="0"/>
                </a:lnTo>
                <a:close/>
              </a:path>
            </a:pathLst>
          </a:custGeom>
          <a:blipFill>
            <a:blip r:embed="rId4"/>
            <a:stretch>
              <a:fillRect/>
            </a:stretch>
          </a:blipFill>
        </p:spPr>
      </p:sp>
      <p:sp>
        <p:nvSpPr>
          <p:cNvPr id="9" name="TextBox 9"/>
          <p:cNvSpPr txBox="1"/>
          <p:nvPr/>
        </p:nvSpPr>
        <p:spPr>
          <a:xfrm>
            <a:off x="2406913" y="111058"/>
            <a:ext cx="9116351" cy="5437501"/>
          </a:xfrm>
          <a:prstGeom prst="rect">
            <a:avLst/>
          </a:prstGeom>
        </p:spPr>
        <p:txBody>
          <a:bodyPr lIns="0" tIns="0" rIns="0" bIns="0" rtlCol="0" anchor="t">
            <a:spAutoFit/>
          </a:bodyPr>
          <a:lstStyle/>
          <a:p>
            <a:pPr algn="l">
              <a:lnSpc>
                <a:spcPts val="8199"/>
              </a:lnSpc>
            </a:pPr>
            <a:r>
              <a:rPr lang="en-US" sz="8199" spc="-450">
                <a:solidFill>
                  <a:srgbClr val="2E2623"/>
                </a:solidFill>
                <a:latin typeface="Heading Now 71-78"/>
                <a:ea typeface="Heading Now 71-78"/>
                <a:cs typeface="Heading Now 71-78"/>
                <a:sym typeface="Heading Now 71-78"/>
              </a:rPr>
              <a:t>Closing </a:t>
            </a:r>
          </a:p>
          <a:p>
            <a:pPr algn="l">
              <a:lnSpc>
                <a:spcPts val="8199"/>
              </a:lnSpc>
            </a:pPr>
            <a:r>
              <a:rPr lang="en-US" sz="8199" spc="-450">
                <a:solidFill>
                  <a:srgbClr val="2E2623"/>
                </a:solidFill>
                <a:latin typeface="Heading Now 71-78"/>
                <a:ea typeface="Heading Now 71-78"/>
                <a:cs typeface="Heading Now 71-78"/>
                <a:sym typeface="Heading Now 71-78"/>
              </a:rPr>
              <a:t>     </a:t>
            </a:r>
          </a:p>
          <a:p>
            <a:pPr algn="l">
              <a:lnSpc>
                <a:spcPts val="8199"/>
              </a:lnSpc>
            </a:pPr>
            <a:r>
              <a:rPr lang="en-US" sz="8199" spc="-450">
                <a:solidFill>
                  <a:srgbClr val="2E2623"/>
                </a:solidFill>
                <a:latin typeface="Heading Now 71-78"/>
                <a:ea typeface="Heading Now 71-78"/>
                <a:cs typeface="Heading Now 71-78"/>
                <a:sym typeface="Heading Now 71-78"/>
              </a:rPr>
              <a:t>    and  </a:t>
            </a:r>
          </a:p>
          <a:p>
            <a:pPr algn="l">
              <a:lnSpc>
                <a:spcPts val="8199"/>
              </a:lnSpc>
            </a:pPr>
            <a:endParaRPr lang="en-US" sz="8199" spc="-450">
              <a:solidFill>
                <a:srgbClr val="2E2623"/>
              </a:solidFill>
              <a:latin typeface="Heading Now 71-78"/>
              <a:ea typeface="Heading Now 71-78"/>
              <a:cs typeface="Heading Now 71-78"/>
              <a:sym typeface="Heading Now 71-78"/>
            </a:endParaRPr>
          </a:p>
          <a:p>
            <a:pPr algn="l">
              <a:lnSpc>
                <a:spcPts val="8199"/>
              </a:lnSpc>
            </a:pPr>
            <a:r>
              <a:rPr lang="en-US" sz="8199" spc="-450">
                <a:solidFill>
                  <a:srgbClr val="2E2623"/>
                </a:solidFill>
                <a:latin typeface="Heading Now 71-78"/>
                <a:ea typeface="Heading Now 71-78"/>
                <a:cs typeface="Heading Now 71-78"/>
                <a:sym typeface="Heading Now 71-78"/>
              </a:rPr>
              <a:t> QUESTIONS</a:t>
            </a:r>
          </a:p>
        </p:txBody>
      </p:sp>
      <p:sp>
        <p:nvSpPr>
          <p:cNvPr id="10" name="TextBox 10"/>
          <p:cNvSpPr txBox="1"/>
          <p:nvPr/>
        </p:nvSpPr>
        <p:spPr>
          <a:xfrm>
            <a:off x="1469717" y="3446078"/>
            <a:ext cx="4796077" cy="349250"/>
          </a:xfrm>
          <a:prstGeom prst="rect">
            <a:avLst/>
          </a:prstGeom>
        </p:spPr>
        <p:txBody>
          <a:bodyPr lIns="0" tIns="0" rIns="0" bIns="0" rtlCol="0" anchor="t">
            <a:spAutoFit/>
          </a:bodyPr>
          <a:lstStyle/>
          <a:p>
            <a:pPr algn="l">
              <a:lnSpc>
                <a:spcPts val="2800"/>
              </a:lnSpc>
            </a:pPr>
            <a:r>
              <a:rPr lang="en-US" sz="2000">
                <a:solidFill>
                  <a:srgbClr val="2E2623"/>
                </a:solidFill>
                <a:latin typeface="TT Firs Neue"/>
                <a:ea typeface="TT Firs Neue"/>
                <a:cs typeface="TT Firs Neue"/>
                <a:sym typeface="TT Firs Neue"/>
              </a:rPr>
              <a:t>Securing Future Viewership Fronteir</a:t>
            </a:r>
          </a:p>
        </p:txBody>
      </p:sp>
      <p:sp>
        <p:nvSpPr>
          <p:cNvPr id="11" name="TextBox 11"/>
          <p:cNvSpPr txBox="1"/>
          <p:nvPr/>
        </p:nvSpPr>
        <p:spPr>
          <a:xfrm rot="5400000">
            <a:off x="15298728" y="6551374"/>
            <a:ext cx="4558876" cy="297180"/>
          </a:xfrm>
          <a:prstGeom prst="rect">
            <a:avLst/>
          </a:prstGeom>
        </p:spPr>
        <p:txBody>
          <a:bodyPr lIns="0" tIns="0" rIns="0" bIns="0" rtlCol="0" anchor="t">
            <a:spAutoFit/>
          </a:bodyPr>
          <a:lstStyle/>
          <a:p>
            <a:pPr algn="r">
              <a:lnSpc>
                <a:spcPts val="2520"/>
              </a:lnSpc>
            </a:pPr>
            <a:r>
              <a:rPr lang="en-US" sz="1800" i="1" spc="392">
                <a:solidFill>
                  <a:srgbClr val="2E2623"/>
                </a:solidFill>
                <a:latin typeface="TT Firs Neue Italics"/>
                <a:ea typeface="TT Firs Neue Italics"/>
                <a:cs typeface="TT Firs Neue Italics"/>
                <a:sym typeface="TT Firs Neue Italics"/>
              </a:rPr>
              <a:t>BRIGHT TV DATA</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321</TotalTime>
  <Words>701</Words>
  <Application>Microsoft Office PowerPoint</Application>
  <PresentationFormat>Custom</PresentationFormat>
  <Paragraphs>69</Paragraphs>
  <Slides>11</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11</vt:i4>
      </vt:variant>
    </vt:vector>
  </HeadingPairs>
  <TitlesOfParts>
    <vt:vector size="21" baseType="lpstr">
      <vt:lpstr>Heading Now 71-78</vt:lpstr>
      <vt:lpstr>TT Firs Neue</vt:lpstr>
      <vt:lpstr>Calibri</vt:lpstr>
      <vt:lpstr>Arial</vt:lpstr>
      <vt:lpstr>Atkinson Hyperlegible Bold</vt:lpstr>
      <vt:lpstr>TT Firs Neue Bold</vt:lpstr>
      <vt:lpstr>Atkinson Hyperlegible</vt:lpstr>
      <vt:lpstr>TT Firs Neue Italics</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Bright TV Viewership usage</dc:title>
  <dc:creator>Sanlam3</dc:creator>
  <cp:lastModifiedBy>Sanlam3</cp:lastModifiedBy>
  <cp:revision>8</cp:revision>
  <dcterms:created xsi:type="dcterms:W3CDTF">2006-08-16T00:00:00Z</dcterms:created>
  <dcterms:modified xsi:type="dcterms:W3CDTF">2026-04-22T19:50:58Z</dcterms:modified>
  <dc:identifier>DAHHkSX6ngU</dc:identifier>
</cp:coreProperties>
</file>